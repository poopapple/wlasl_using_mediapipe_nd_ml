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al" panose="020B0604020202020204" pitchFamily="34" charset="0"/>
      <p:regular r:id="rId14"/>
    </p:embeddedFont>
    <p:embeddedFont>
      <p:font typeface="Arial Bold" panose="020B0704020202020204" pitchFamily="34" charset="0"/>
      <p:regular r:id="rId15"/>
    </p:embeddedFont>
    <p:embeddedFont>
      <p:font typeface="FS Albert Arabic" panose="020B0503040502020804" pitchFamily="34" charset="-78"/>
      <p:regular r:id="rId16"/>
    </p:embeddedFont>
    <p:embeddedFont>
      <p:font typeface="FS Albert Arabic Bold" panose="020B0803040502020804" pitchFamily="34" charset="-78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0">
        <p159:morph option="byObject"/>
      </p:transition>
    </mc:Choice>
    <mc:Fallback>
      <p:transition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91547" y="453447"/>
            <a:ext cx="17304896" cy="9380096"/>
            <a:chOff x="0" y="0"/>
            <a:chExt cx="23073195" cy="125067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73233" cy="12506833"/>
            </a:xfrm>
            <a:custGeom>
              <a:avLst/>
              <a:gdLst/>
              <a:ahLst/>
              <a:cxnLst/>
              <a:rect l="l" t="t" r="r" b="b"/>
              <a:pathLst>
                <a:path w="23073233" h="12506833">
                  <a:moveTo>
                    <a:pt x="25400" y="0"/>
                  </a:moveTo>
                  <a:lnTo>
                    <a:pt x="23047833" y="0"/>
                  </a:lnTo>
                  <a:cubicBezTo>
                    <a:pt x="23061803" y="0"/>
                    <a:pt x="23073233" y="11430"/>
                    <a:pt x="23073233" y="25400"/>
                  </a:cubicBezTo>
                  <a:lnTo>
                    <a:pt x="23073233" y="12481433"/>
                  </a:lnTo>
                  <a:cubicBezTo>
                    <a:pt x="23073233" y="12495402"/>
                    <a:pt x="23061803" y="12506833"/>
                    <a:pt x="23047833" y="12506833"/>
                  </a:cubicBezTo>
                  <a:lnTo>
                    <a:pt x="25400" y="12506833"/>
                  </a:lnTo>
                  <a:cubicBezTo>
                    <a:pt x="11430" y="12506833"/>
                    <a:pt x="0" y="12495402"/>
                    <a:pt x="0" y="12481433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2481433"/>
                  </a:lnTo>
                  <a:lnTo>
                    <a:pt x="25400" y="12481433"/>
                  </a:lnTo>
                  <a:lnTo>
                    <a:pt x="25400" y="12456033"/>
                  </a:lnTo>
                  <a:lnTo>
                    <a:pt x="23047833" y="12456033"/>
                  </a:lnTo>
                  <a:lnTo>
                    <a:pt x="23047833" y="12481433"/>
                  </a:lnTo>
                  <a:lnTo>
                    <a:pt x="23022433" y="12481433"/>
                  </a:lnTo>
                  <a:lnTo>
                    <a:pt x="23022433" y="25400"/>
                  </a:lnTo>
                  <a:lnTo>
                    <a:pt x="23047833" y="25400"/>
                  </a:lnTo>
                  <a:lnTo>
                    <a:pt x="23047833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766139" y="3114355"/>
            <a:ext cx="8755722" cy="2736144"/>
            <a:chOff x="0" y="0"/>
            <a:chExt cx="11674296" cy="36481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674292" cy="3648193"/>
            </a:xfrm>
            <a:custGeom>
              <a:avLst/>
              <a:gdLst/>
              <a:ahLst/>
              <a:cxnLst/>
              <a:rect l="l" t="t" r="r" b="b"/>
              <a:pathLst>
                <a:path w="11674292" h="3648193">
                  <a:moveTo>
                    <a:pt x="0" y="0"/>
                  </a:moveTo>
                  <a:lnTo>
                    <a:pt x="11674292" y="0"/>
                  </a:lnTo>
                  <a:lnTo>
                    <a:pt x="11674292" y="3648193"/>
                  </a:lnTo>
                  <a:lnTo>
                    <a:pt x="0" y="36481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188" r="-26568" b="-19648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819150"/>
              <a:ext cx="11674296" cy="282904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6600"/>
                </a:lnSpc>
              </a:pPr>
              <a:r>
                <a:rPr lang="en-US" sz="13200" b="1">
                  <a:solidFill>
                    <a:srgbClr val="D12E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Sign Wave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695471" y="6077222"/>
            <a:ext cx="10899153" cy="636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21259"/>
                </a:solidFill>
                <a:latin typeface="FS Albert Arabic"/>
                <a:ea typeface="FS Albert Arabic"/>
                <a:cs typeface="FS Albert Arabic"/>
                <a:sym typeface="FS Albert Arabic"/>
              </a:rPr>
              <a:t>Giving Every Gesture a Voice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21003" y="1270978"/>
            <a:ext cx="2785866" cy="3323616"/>
            <a:chOff x="0" y="0"/>
            <a:chExt cx="3714488" cy="4431489"/>
          </a:xfrm>
        </p:grpSpPr>
        <p:grpSp>
          <p:nvGrpSpPr>
            <p:cNvPr id="11" name="Group 11"/>
            <p:cNvGrpSpPr/>
            <p:nvPr/>
          </p:nvGrpSpPr>
          <p:grpSpPr>
            <a:xfrm>
              <a:off x="339588" y="528302"/>
              <a:ext cx="3374900" cy="3374900"/>
              <a:chOff x="0" y="0"/>
              <a:chExt cx="2957601" cy="295760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957576" cy="2957576"/>
              </a:xfrm>
              <a:custGeom>
                <a:avLst/>
                <a:gdLst/>
                <a:ahLst/>
                <a:cxnLst/>
                <a:rect l="l" t="t" r="r" b="b"/>
                <a:pathLst>
                  <a:path w="2957576" h="2957576">
                    <a:moveTo>
                      <a:pt x="0" y="1478788"/>
                    </a:moveTo>
                    <a:cubicBezTo>
                      <a:pt x="0" y="662051"/>
                      <a:pt x="662051" y="0"/>
                      <a:pt x="1478788" y="0"/>
                    </a:cubicBezTo>
                    <a:cubicBezTo>
                      <a:pt x="2295525" y="0"/>
                      <a:pt x="2957576" y="662051"/>
                      <a:pt x="2957576" y="1478788"/>
                    </a:cubicBezTo>
                    <a:cubicBezTo>
                      <a:pt x="2957576" y="2295525"/>
                      <a:pt x="2295525" y="2957576"/>
                      <a:pt x="1478788" y="2957576"/>
                    </a:cubicBezTo>
                    <a:cubicBezTo>
                      <a:pt x="662051" y="2957576"/>
                      <a:pt x="0" y="2295525"/>
                      <a:pt x="0" y="147878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13" name="Freeform 13"/>
            <p:cNvSpPr/>
            <p:nvPr/>
          </p:nvSpPr>
          <p:spPr>
            <a:xfrm>
              <a:off x="883425" y="0"/>
              <a:ext cx="2287211" cy="4431489"/>
            </a:xfrm>
            <a:custGeom>
              <a:avLst/>
              <a:gdLst/>
              <a:ahLst/>
              <a:cxnLst/>
              <a:rect l="l" t="t" r="r" b="b"/>
              <a:pathLst>
                <a:path w="2287211" h="4431489">
                  <a:moveTo>
                    <a:pt x="0" y="0"/>
                  </a:moveTo>
                  <a:lnTo>
                    <a:pt x="2287212" y="0"/>
                  </a:lnTo>
                  <a:lnTo>
                    <a:pt x="2287212" y="4431489"/>
                  </a:lnTo>
                  <a:lnTo>
                    <a:pt x="0" y="4431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4" name="Group 14"/>
            <p:cNvGrpSpPr/>
            <p:nvPr/>
          </p:nvGrpSpPr>
          <p:grpSpPr>
            <a:xfrm>
              <a:off x="0" y="62793"/>
              <a:ext cx="1235115" cy="1235115"/>
              <a:chOff x="0" y="0"/>
              <a:chExt cx="1082396" cy="108239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82421" cy="1082421"/>
              </a:xfrm>
              <a:custGeom>
                <a:avLst/>
                <a:gdLst/>
                <a:ahLst/>
                <a:cxnLst/>
                <a:rect l="l" t="t" r="r" b="b"/>
                <a:pathLst>
                  <a:path w="1082421" h="1082421">
                    <a:moveTo>
                      <a:pt x="0" y="541147"/>
                    </a:moveTo>
                    <a:cubicBezTo>
                      <a:pt x="0" y="242316"/>
                      <a:pt x="242316" y="0"/>
                      <a:pt x="541147" y="0"/>
                    </a:cubicBezTo>
                    <a:cubicBezTo>
                      <a:pt x="839978" y="0"/>
                      <a:pt x="1082421" y="242316"/>
                      <a:pt x="1082421" y="541147"/>
                    </a:cubicBezTo>
                    <a:cubicBezTo>
                      <a:pt x="1082421" y="839978"/>
                      <a:pt x="840105" y="1082421"/>
                      <a:pt x="541147" y="1082421"/>
                    </a:cubicBezTo>
                    <a:cubicBezTo>
                      <a:pt x="242189" y="1082421"/>
                      <a:pt x="0" y="840105"/>
                      <a:pt x="0" y="541147"/>
                    </a:cubicBezTo>
                    <a:close/>
                  </a:path>
                </a:pathLst>
              </a:custGeom>
              <a:solidFill>
                <a:srgbClr val="121259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0"/>
                <a:ext cx="1082396" cy="10823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FS Albert Arabic Bold"/>
                    <a:ea typeface="FS Albert Arabic Bold"/>
                    <a:cs typeface="FS Albert Arabic Bold"/>
                    <a:sym typeface="FS Albert Arabic Bold"/>
                  </a:rPr>
                  <a:t>D</a:t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14191845" y="6395295"/>
            <a:ext cx="2965147" cy="2943739"/>
            <a:chOff x="0" y="0"/>
            <a:chExt cx="3953530" cy="3924985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271958"/>
              <a:ext cx="3381244" cy="3381244"/>
              <a:chOff x="0" y="0"/>
              <a:chExt cx="2957601" cy="295760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957576" cy="2957576"/>
              </a:xfrm>
              <a:custGeom>
                <a:avLst/>
                <a:gdLst/>
                <a:ahLst/>
                <a:cxnLst/>
                <a:rect l="l" t="t" r="r" b="b"/>
                <a:pathLst>
                  <a:path w="2957576" h="2957576">
                    <a:moveTo>
                      <a:pt x="0" y="1478788"/>
                    </a:moveTo>
                    <a:cubicBezTo>
                      <a:pt x="0" y="662051"/>
                      <a:pt x="662051" y="0"/>
                      <a:pt x="1478788" y="0"/>
                    </a:cubicBezTo>
                    <a:cubicBezTo>
                      <a:pt x="2295525" y="0"/>
                      <a:pt x="2957576" y="662051"/>
                      <a:pt x="2957576" y="1478788"/>
                    </a:cubicBezTo>
                    <a:cubicBezTo>
                      <a:pt x="2957576" y="2295525"/>
                      <a:pt x="2295525" y="2957576"/>
                      <a:pt x="1478788" y="2957576"/>
                    </a:cubicBezTo>
                    <a:cubicBezTo>
                      <a:pt x="662051" y="2957576"/>
                      <a:pt x="0" y="2295525"/>
                      <a:pt x="0" y="147878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20" name="Freeform 20"/>
            <p:cNvSpPr/>
            <p:nvPr/>
          </p:nvSpPr>
          <p:spPr>
            <a:xfrm>
              <a:off x="422274" y="0"/>
              <a:ext cx="2536463" cy="3924985"/>
            </a:xfrm>
            <a:custGeom>
              <a:avLst/>
              <a:gdLst/>
              <a:ahLst/>
              <a:cxnLst/>
              <a:rect l="l" t="t" r="r" b="b"/>
              <a:pathLst>
                <a:path w="2536463" h="3924985">
                  <a:moveTo>
                    <a:pt x="0" y="0"/>
                  </a:moveTo>
                  <a:lnTo>
                    <a:pt x="2536463" y="0"/>
                  </a:lnTo>
                  <a:lnTo>
                    <a:pt x="2536463" y="3924985"/>
                  </a:lnTo>
                  <a:lnTo>
                    <a:pt x="0" y="3924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1" name="Group 21"/>
            <p:cNvGrpSpPr/>
            <p:nvPr/>
          </p:nvGrpSpPr>
          <p:grpSpPr>
            <a:xfrm>
              <a:off x="2716093" y="2188730"/>
              <a:ext cx="1237436" cy="1237436"/>
              <a:chOff x="0" y="0"/>
              <a:chExt cx="1082396" cy="108239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082421" cy="1082421"/>
              </a:xfrm>
              <a:custGeom>
                <a:avLst/>
                <a:gdLst/>
                <a:ahLst/>
                <a:cxnLst/>
                <a:rect l="l" t="t" r="r" b="b"/>
                <a:pathLst>
                  <a:path w="1082421" h="1082421">
                    <a:moveTo>
                      <a:pt x="0" y="541147"/>
                    </a:moveTo>
                    <a:cubicBezTo>
                      <a:pt x="0" y="242316"/>
                      <a:pt x="242316" y="0"/>
                      <a:pt x="541147" y="0"/>
                    </a:cubicBezTo>
                    <a:cubicBezTo>
                      <a:pt x="839978" y="0"/>
                      <a:pt x="1082421" y="242316"/>
                      <a:pt x="1082421" y="541147"/>
                    </a:cubicBezTo>
                    <a:cubicBezTo>
                      <a:pt x="1082421" y="839978"/>
                      <a:pt x="840105" y="1082421"/>
                      <a:pt x="541147" y="1082421"/>
                    </a:cubicBezTo>
                    <a:cubicBezTo>
                      <a:pt x="242189" y="1082421"/>
                      <a:pt x="0" y="840105"/>
                      <a:pt x="0" y="541147"/>
                    </a:cubicBezTo>
                    <a:close/>
                  </a:path>
                </a:pathLst>
              </a:custGeom>
              <a:solidFill>
                <a:srgbClr val="D12E2E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0"/>
                <a:ext cx="1082396" cy="10823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FS Albert Arabic Bold"/>
                    <a:ea typeface="FS Albert Arabic Bold"/>
                    <a:cs typeface="FS Albert Arabic Bold"/>
                    <a:sym typeface="FS Albert Arabic Bold"/>
                  </a:rPr>
                  <a:t>E</a:t>
                </a:r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7086448" y="8455714"/>
            <a:ext cx="4121325" cy="954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>
                <a:solidFill>
                  <a:srgbClr val="121259"/>
                </a:solidFill>
                <a:latin typeface="FS Albert Arabic Bold"/>
                <a:ea typeface="FS Albert Arabic Bold"/>
                <a:cs typeface="FS Albert Arabic Bold"/>
                <a:sym typeface="FS Albert Arabic Bold"/>
              </a:rPr>
              <a:t>By:</a:t>
            </a:r>
          </a:p>
          <a:p>
            <a:pPr algn="ctr">
              <a:lnSpc>
                <a:spcPts val="3359"/>
              </a:lnSpc>
            </a:pPr>
            <a:r>
              <a:rPr lang="en-US" sz="2799" b="1">
                <a:solidFill>
                  <a:srgbClr val="121259"/>
                </a:solidFill>
                <a:latin typeface="FS Albert Arabic Bold"/>
                <a:ea typeface="FS Albert Arabic Bold"/>
                <a:cs typeface="FS Albert Arabic Bold"/>
                <a:sym typeface="FS Albert Arabic Bold"/>
              </a:rPr>
              <a:t>ARYAN SETHI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91547" y="453447"/>
            <a:ext cx="17304896" cy="9380096"/>
            <a:chOff x="0" y="0"/>
            <a:chExt cx="23073195" cy="125067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73233" cy="12506833"/>
            </a:xfrm>
            <a:custGeom>
              <a:avLst/>
              <a:gdLst/>
              <a:ahLst/>
              <a:cxnLst/>
              <a:rect l="l" t="t" r="r" b="b"/>
              <a:pathLst>
                <a:path w="23073233" h="12506833">
                  <a:moveTo>
                    <a:pt x="25400" y="0"/>
                  </a:moveTo>
                  <a:lnTo>
                    <a:pt x="23047833" y="0"/>
                  </a:lnTo>
                  <a:cubicBezTo>
                    <a:pt x="23061803" y="0"/>
                    <a:pt x="23073233" y="11430"/>
                    <a:pt x="23073233" y="25400"/>
                  </a:cubicBezTo>
                  <a:lnTo>
                    <a:pt x="23073233" y="12481433"/>
                  </a:lnTo>
                  <a:cubicBezTo>
                    <a:pt x="23073233" y="12495402"/>
                    <a:pt x="23061803" y="12506833"/>
                    <a:pt x="23047833" y="12506833"/>
                  </a:cubicBezTo>
                  <a:lnTo>
                    <a:pt x="25400" y="12506833"/>
                  </a:lnTo>
                  <a:cubicBezTo>
                    <a:pt x="11430" y="12506833"/>
                    <a:pt x="0" y="12495402"/>
                    <a:pt x="0" y="12481433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2481433"/>
                  </a:lnTo>
                  <a:lnTo>
                    <a:pt x="25400" y="12481433"/>
                  </a:lnTo>
                  <a:lnTo>
                    <a:pt x="25400" y="12456033"/>
                  </a:lnTo>
                  <a:lnTo>
                    <a:pt x="23047833" y="12456033"/>
                  </a:lnTo>
                  <a:lnTo>
                    <a:pt x="23047833" y="12481433"/>
                  </a:lnTo>
                  <a:lnTo>
                    <a:pt x="23022433" y="12481433"/>
                  </a:lnTo>
                  <a:lnTo>
                    <a:pt x="23022433" y="25400"/>
                  </a:lnTo>
                  <a:lnTo>
                    <a:pt x="23047833" y="25400"/>
                  </a:lnTo>
                  <a:lnTo>
                    <a:pt x="23047833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080641" y="518446"/>
            <a:ext cx="1833763" cy="2684907"/>
            <a:chOff x="0" y="0"/>
            <a:chExt cx="2445017" cy="3579876"/>
          </a:xfrm>
        </p:grpSpPr>
        <p:sp>
          <p:nvSpPr>
            <p:cNvPr id="7" name="Freeform 7" descr="A cartoon of a person with her hands on her chest  AI-generated content may be incorrect."/>
            <p:cNvSpPr/>
            <p:nvPr/>
          </p:nvSpPr>
          <p:spPr>
            <a:xfrm>
              <a:off x="0" y="0"/>
              <a:ext cx="2445004" cy="3579876"/>
            </a:xfrm>
            <a:custGeom>
              <a:avLst/>
              <a:gdLst/>
              <a:ahLst/>
              <a:cxnLst/>
              <a:rect l="l" t="t" r="r" b="b"/>
              <a:pathLst>
                <a:path w="2445004" h="3579876">
                  <a:moveTo>
                    <a:pt x="0" y="0"/>
                  </a:moveTo>
                  <a:lnTo>
                    <a:pt x="2445004" y="0"/>
                  </a:lnTo>
                  <a:lnTo>
                    <a:pt x="2445004" y="3579876"/>
                  </a:lnTo>
                  <a:lnTo>
                    <a:pt x="0" y="3579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547" t="-18600" r="-21527" b="-2900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898823" y="2775433"/>
            <a:ext cx="2197398" cy="427920"/>
            <a:chOff x="0" y="0"/>
            <a:chExt cx="2929865" cy="570560"/>
          </a:xfrm>
        </p:grpSpPr>
        <p:sp>
          <p:nvSpPr>
            <p:cNvPr id="9" name="Freeform 9"/>
            <p:cNvSpPr/>
            <p:nvPr/>
          </p:nvSpPr>
          <p:spPr>
            <a:xfrm>
              <a:off x="16891" y="17018"/>
              <a:ext cx="2900553" cy="538734"/>
            </a:xfrm>
            <a:custGeom>
              <a:avLst/>
              <a:gdLst/>
              <a:ahLst/>
              <a:cxnLst/>
              <a:rect l="l" t="t" r="r" b="b"/>
              <a:pathLst>
                <a:path w="2900553" h="538734">
                  <a:moveTo>
                    <a:pt x="0" y="89789"/>
                  </a:moveTo>
                  <a:cubicBezTo>
                    <a:pt x="0" y="40132"/>
                    <a:pt x="42164" y="0"/>
                    <a:pt x="94107" y="0"/>
                  </a:cubicBezTo>
                  <a:lnTo>
                    <a:pt x="2806446" y="0"/>
                  </a:lnTo>
                  <a:cubicBezTo>
                    <a:pt x="2858389" y="0"/>
                    <a:pt x="2900553" y="40259"/>
                    <a:pt x="2900553" y="89789"/>
                  </a:cubicBezTo>
                  <a:lnTo>
                    <a:pt x="2900553" y="448945"/>
                  </a:lnTo>
                  <a:cubicBezTo>
                    <a:pt x="2900553" y="498602"/>
                    <a:pt x="2858389" y="538734"/>
                    <a:pt x="2806446" y="538734"/>
                  </a:cubicBezTo>
                  <a:lnTo>
                    <a:pt x="94234" y="538734"/>
                  </a:lnTo>
                  <a:cubicBezTo>
                    <a:pt x="42291" y="538734"/>
                    <a:pt x="127" y="498475"/>
                    <a:pt x="127" y="448945"/>
                  </a:cubicBezTo>
                  <a:close/>
                </a:path>
              </a:pathLst>
            </a:custGeom>
            <a:solidFill>
              <a:srgbClr val="4675C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934462" cy="572770"/>
            </a:xfrm>
            <a:custGeom>
              <a:avLst/>
              <a:gdLst/>
              <a:ahLst/>
              <a:cxnLst/>
              <a:rect l="l" t="t" r="r" b="b"/>
              <a:pathLst>
                <a:path w="2934462" h="572770">
                  <a:moveTo>
                    <a:pt x="0" y="106807"/>
                  </a:moveTo>
                  <a:cubicBezTo>
                    <a:pt x="0" y="46990"/>
                    <a:pt x="50546" y="0"/>
                    <a:pt x="111125" y="0"/>
                  </a:cubicBezTo>
                  <a:lnTo>
                    <a:pt x="2823337" y="0"/>
                  </a:lnTo>
                  <a:lnTo>
                    <a:pt x="2823337" y="16891"/>
                  </a:lnTo>
                  <a:lnTo>
                    <a:pt x="2823337" y="0"/>
                  </a:lnTo>
                  <a:cubicBezTo>
                    <a:pt x="2883916" y="0"/>
                    <a:pt x="2934462" y="46990"/>
                    <a:pt x="2934462" y="106807"/>
                  </a:cubicBezTo>
                  <a:lnTo>
                    <a:pt x="2917571" y="106807"/>
                  </a:lnTo>
                  <a:lnTo>
                    <a:pt x="2934462" y="106807"/>
                  </a:lnTo>
                  <a:lnTo>
                    <a:pt x="2934462" y="465963"/>
                  </a:lnTo>
                  <a:lnTo>
                    <a:pt x="2917571" y="465963"/>
                  </a:lnTo>
                  <a:lnTo>
                    <a:pt x="2934462" y="465963"/>
                  </a:lnTo>
                  <a:cubicBezTo>
                    <a:pt x="2934462" y="525653"/>
                    <a:pt x="2883916" y="572770"/>
                    <a:pt x="2823337" y="572770"/>
                  </a:cubicBezTo>
                  <a:lnTo>
                    <a:pt x="2823337" y="555879"/>
                  </a:lnTo>
                  <a:lnTo>
                    <a:pt x="2823337" y="572770"/>
                  </a:lnTo>
                  <a:lnTo>
                    <a:pt x="111125" y="572770"/>
                  </a:lnTo>
                  <a:lnTo>
                    <a:pt x="111125" y="555879"/>
                  </a:lnTo>
                  <a:lnTo>
                    <a:pt x="111125" y="572770"/>
                  </a:lnTo>
                  <a:cubicBezTo>
                    <a:pt x="50546" y="572770"/>
                    <a:pt x="0" y="525653"/>
                    <a:pt x="0" y="465963"/>
                  </a:cubicBezTo>
                  <a:lnTo>
                    <a:pt x="0" y="106807"/>
                  </a:lnTo>
                  <a:lnTo>
                    <a:pt x="16891" y="106807"/>
                  </a:lnTo>
                  <a:lnTo>
                    <a:pt x="0" y="106807"/>
                  </a:lnTo>
                  <a:moveTo>
                    <a:pt x="33909" y="106807"/>
                  </a:moveTo>
                  <a:lnTo>
                    <a:pt x="33909" y="465963"/>
                  </a:lnTo>
                  <a:lnTo>
                    <a:pt x="16891" y="465963"/>
                  </a:lnTo>
                  <a:lnTo>
                    <a:pt x="33909" y="465963"/>
                  </a:lnTo>
                  <a:cubicBezTo>
                    <a:pt x="33909" y="505460"/>
                    <a:pt x="67691" y="538861"/>
                    <a:pt x="111125" y="538861"/>
                  </a:cubicBezTo>
                  <a:lnTo>
                    <a:pt x="2823337" y="538861"/>
                  </a:lnTo>
                  <a:cubicBezTo>
                    <a:pt x="2866771" y="538861"/>
                    <a:pt x="2900553" y="505460"/>
                    <a:pt x="2900553" y="465963"/>
                  </a:cubicBezTo>
                  <a:lnTo>
                    <a:pt x="2900553" y="106807"/>
                  </a:lnTo>
                  <a:cubicBezTo>
                    <a:pt x="2900553" y="67310"/>
                    <a:pt x="2866771" y="33909"/>
                    <a:pt x="2823337" y="33909"/>
                  </a:cubicBezTo>
                  <a:lnTo>
                    <a:pt x="111125" y="33909"/>
                  </a:lnTo>
                  <a:lnTo>
                    <a:pt x="111125" y="16891"/>
                  </a:lnTo>
                  <a:lnTo>
                    <a:pt x="111125" y="33909"/>
                  </a:lnTo>
                  <a:cubicBezTo>
                    <a:pt x="67691" y="33909"/>
                    <a:pt x="33909" y="67310"/>
                    <a:pt x="33909" y="10680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929865" cy="580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ASL Signer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749472" y="3332836"/>
            <a:ext cx="496100" cy="847896"/>
            <a:chOff x="0" y="0"/>
            <a:chExt cx="661467" cy="11305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1416" cy="1130554"/>
            </a:xfrm>
            <a:custGeom>
              <a:avLst/>
              <a:gdLst/>
              <a:ahLst/>
              <a:cxnLst/>
              <a:rect l="l" t="t" r="r" b="b"/>
              <a:pathLst>
                <a:path w="661416" h="1130554">
                  <a:moveTo>
                    <a:pt x="0" y="799846"/>
                  </a:moveTo>
                  <a:lnTo>
                    <a:pt x="165354" y="799846"/>
                  </a:lnTo>
                  <a:lnTo>
                    <a:pt x="165354" y="0"/>
                  </a:lnTo>
                  <a:lnTo>
                    <a:pt x="496062" y="0"/>
                  </a:lnTo>
                  <a:lnTo>
                    <a:pt x="496062" y="799846"/>
                  </a:lnTo>
                  <a:lnTo>
                    <a:pt x="661416" y="799846"/>
                  </a:lnTo>
                  <a:lnTo>
                    <a:pt x="330708" y="1130554"/>
                  </a:lnTo>
                  <a:close/>
                </a:path>
              </a:pathLst>
            </a:custGeom>
            <a:solidFill>
              <a:srgbClr val="32B3A1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2162446" y="4313806"/>
            <a:ext cx="1670152" cy="1659379"/>
            <a:chOff x="0" y="0"/>
            <a:chExt cx="2226869" cy="2212505"/>
          </a:xfrm>
        </p:grpSpPr>
        <p:sp>
          <p:nvSpPr>
            <p:cNvPr id="15" name="Freeform 15"/>
            <p:cNvSpPr/>
            <p:nvPr/>
          </p:nvSpPr>
          <p:spPr>
            <a:xfrm>
              <a:off x="16891" y="17018"/>
              <a:ext cx="2193036" cy="2178558"/>
            </a:xfrm>
            <a:custGeom>
              <a:avLst/>
              <a:gdLst/>
              <a:ahLst/>
              <a:cxnLst/>
              <a:rect l="l" t="t" r="r" b="b"/>
              <a:pathLst>
                <a:path w="2193036" h="2178558">
                  <a:moveTo>
                    <a:pt x="0" y="1089279"/>
                  </a:moveTo>
                  <a:cubicBezTo>
                    <a:pt x="0" y="487680"/>
                    <a:pt x="490982" y="0"/>
                    <a:pt x="1096518" y="0"/>
                  </a:cubicBezTo>
                  <a:cubicBezTo>
                    <a:pt x="1702054" y="0"/>
                    <a:pt x="2193036" y="487680"/>
                    <a:pt x="2193036" y="1089279"/>
                  </a:cubicBezTo>
                  <a:cubicBezTo>
                    <a:pt x="2193036" y="1690878"/>
                    <a:pt x="1702054" y="2178558"/>
                    <a:pt x="1096518" y="2178558"/>
                  </a:cubicBezTo>
                  <a:cubicBezTo>
                    <a:pt x="490982" y="2178558"/>
                    <a:pt x="0" y="1690878"/>
                    <a:pt x="0" y="1089279"/>
                  </a:cubicBezTo>
                  <a:close/>
                </a:path>
              </a:pathLst>
            </a:custGeom>
            <a:gradFill rotWithShape="1">
              <a:gsLst>
                <a:gs pos="0">
                  <a:srgbClr val="26877A">
                    <a:alpha val="100000"/>
                  </a:srgbClr>
                </a:gs>
                <a:gs pos="100000">
                  <a:srgbClr val="2DA09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2226818" cy="2212594"/>
            </a:xfrm>
            <a:custGeom>
              <a:avLst/>
              <a:gdLst/>
              <a:ahLst/>
              <a:cxnLst/>
              <a:rect l="l" t="t" r="r" b="b"/>
              <a:pathLst>
                <a:path w="2226818" h="2212594">
                  <a:moveTo>
                    <a:pt x="0" y="1106297"/>
                  </a:moveTo>
                  <a:cubicBezTo>
                    <a:pt x="0" y="495173"/>
                    <a:pt x="498602" y="0"/>
                    <a:pt x="1113409" y="0"/>
                  </a:cubicBezTo>
                  <a:lnTo>
                    <a:pt x="1113409" y="16891"/>
                  </a:lnTo>
                  <a:lnTo>
                    <a:pt x="1113409" y="0"/>
                  </a:lnTo>
                  <a:cubicBezTo>
                    <a:pt x="1728216" y="0"/>
                    <a:pt x="2226818" y="495173"/>
                    <a:pt x="2226818" y="1106297"/>
                  </a:cubicBezTo>
                  <a:lnTo>
                    <a:pt x="2209927" y="1106297"/>
                  </a:lnTo>
                  <a:lnTo>
                    <a:pt x="2226818" y="1106297"/>
                  </a:lnTo>
                  <a:cubicBezTo>
                    <a:pt x="2226818" y="1717421"/>
                    <a:pt x="1728216" y="2212594"/>
                    <a:pt x="1113409" y="2212594"/>
                  </a:cubicBezTo>
                  <a:lnTo>
                    <a:pt x="1113409" y="2195703"/>
                  </a:lnTo>
                  <a:lnTo>
                    <a:pt x="1113409" y="2212594"/>
                  </a:lnTo>
                  <a:cubicBezTo>
                    <a:pt x="498602" y="2212467"/>
                    <a:pt x="0" y="1717294"/>
                    <a:pt x="0" y="1106297"/>
                  </a:cubicBezTo>
                  <a:lnTo>
                    <a:pt x="16891" y="1106297"/>
                  </a:lnTo>
                  <a:lnTo>
                    <a:pt x="33909" y="1106297"/>
                  </a:lnTo>
                  <a:lnTo>
                    <a:pt x="16891" y="1106297"/>
                  </a:lnTo>
                  <a:lnTo>
                    <a:pt x="0" y="1106297"/>
                  </a:lnTo>
                  <a:moveTo>
                    <a:pt x="33909" y="1106297"/>
                  </a:moveTo>
                  <a:cubicBezTo>
                    <a:pt x="33909" y="1115695"/>
                    <a:pt x="26289" y="1123188"/>
                    <a:pt x="17018" y="1123188"/>
                  </a:cubicBezTo>
                  <a:cubicBezTo>
                    <a:pt x="7747" y="1123188"/>
                    <a:pt x="0" y="1115568"/>
                    <a:pt x="0" y="1106297"/>
                  </a:cubicBezTo>
                  <a:cubicBezTo>
                    <a:pt x="0" y="1097026"/>
                    <a:pt x="7620" y="1089406"/>
                    <a:pt x="16891" y="1089406"/>
                  </a:cubicBezTo>
                  <a:cubicBezTo>
                    <a:pt x="26162" y="1089406"/>
                    <a:pt x="33782" y="1097026"/>
                    <a:pt x="33782" y="1106297"/>
                  </a:cubicBezTo>
                  <a:cubicBezTo>
                    <a:pt x="33782" y="1698498"/>
                    <a:pt x="517017" y="2178685"/>
                    <a:pt x="1113409" y="2178685"/>
                  </a:cubicBezTo>
                  <a:cubicBezTo>
                    <a:pt x="1709801" y="2178685"/>
                    <a:pt x="2193036" y="1698498"/>
                    <a:pt x="2193036" y="1106297"/>
                  </a:cubicBezTo>
                  <a:cubicBezTo>
                    <a:pt x="2193036" y="514096"/>
                    <a:pt x="1709801" y="33909"/>
                    <a:pt x="1113409" y="33909"/>
                  </a:cubicBezTo>
                  <a:lnTo>
                    <a:pt x="1113409" y="16891"/>
                  </a:lnTo>
                  <a:lnTo>
                    <a:pt x="1113409" y="33909"/>
                  </a:lnTo>
                  <a:cubicBezTo>
                    <a:pt x="517144" y="33909"/>
                    <a:pt x="33909" y="514096"/>
                    <a:pt x="33909" y="11062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26869" cy="2250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37237" y="5629342"/>
            <a:ext cx="3120571" cy="429568"/>
            <a:chOff x="0" y="0"/>
            <a:chExt cx="4160761" cy="572757"/>
          </a:xfrm>
        </p:grpSpPr>
        <p:sp>
          <p:nvSpPr>
            <p:cNvPr id="19" name="Freeform 19"/>
            <p:cNvSpPr/>
            <p:nvPr/>
          </p:nvSpPr>
          <p:spPr>
            <a:xfrm>
              <a:off x="16891" y="17018"/>
              <a:ext cx="4126992" cy="538734"/>
            </a:xfrm>
            <a:custGeom>
              <a:avLst/>
              <a:gdLst/>
              <a:ahLst/>
              <a:cxnLst/>
              <a:rect l="l" t="t" r="r" b="b"/>
              <a:pathLst>
                <a:path w="4126992" h="538734">
                  <a:moveTo>
                    <a:pt x="0" y="89789"/>
                  </a:moveTo>
                  <a:cubicBezTo>
                    <a:pt x="0" y="40132"/>
                    <a:pt x="42418" y="0"/>
                    <a:pt x="94742" y="0"/>
                  </a:cubicBezTo>
                  <a:lnTo>
                    <a:pt x="4032250" y="0"/>
                  </a:lnTo>
                  <a:cubicBezTo>
                    <a:pt x="4084574" y="0"/>
                    <a:pt x="4126992" y="40259"/>
                    <a:pt x="4126992" y="89789"/>
                  </a:cubicBezTo>
                  <a:lnTo>
                    <a:pt x="4126992" y="448945"/>
                  </a:lnTo>
                  <a:cubicBezTo>
                    <a:pt x="4126992" y="498602"/>
                    <a:pt x="4084574" y="538734"/>
                    <a:pt x="4032250" y="538734"/>
                  </a:cubicBezTo>
                  <a:lnTo>
                    <a:pt x="94742" y="538734"/>
                  </a:lnTo>
                  <a:cubicBezTo>
                    <a:pt x="42418" y="538734"/>
                    <a:pt x="0" y="498475"/>
                    <a:pt x="0" y="448945"/>
                  </a:cubicBezTo>
                  <a:close/>
                </a:path>
              </a:pathLst>
            </a:custGeom>
            <a:solidFill>
              <a:srgbClr val="26877A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4160774" cy="572770"/>
            </a:xfrm>
            <a:custGeom>
              <a:avLst/>
              <a:gdLst/>
              <a:ahLst/>
              <a:cxnLst/>
              <a:rect l="l" t="t" r="r" b="b"/>
              <a:pathLst>
                <a:path w="4160774" h="572770">
                  <a:moveTo>
                    <a:pt x="0" y="106807"/>
                  </a:moveTo>
                  <a:cubicBezTo>
                    <a:pt x="0" y="46990"/>
                    <a:pt x="50800" y="0"/>
                    <a:pt x="111633" y="0"/>
                  </a:cubicBezTo>
                  <a:lnTo>
                    <a:pt x="4049141" y="0"/>
                  </a:lnTo>
                  <a:lnTo>
                    <a:pt x="4049141" y="16891"/>
                  </a:lnTo>
                  <a:lnTo>
                    <a:pt x="4049141" y="0"/>
                  </a:lnTo>
                  <a:cubicBezTo>
                    <a:pt x="4109974" y="0"/>
                    <a:pt x="4160774" y="46990"/>
                    <a:pt x="4160774" y="106807"/>
                  </a:cubicBezTo>
                  <a:lnTo>
                    <a:pt x="4143883" y="106807"/>
                  </a:lnTo>
                  <a:lnTo>
                    <a:pt x="4160774" y="106807"/>
                  </a:lnTo>
                  <a:lnTo>
                    <a:pt x="4160774" y="465963"/>
                  </a:lnTo>
                  <a:lnTo>
                    <a:pt x="4143883" y="465963"/>
                  </a:lnTo>
                  <a:lnTo>
                    <a:pt x="4160774" y="465963"/>
                  </a:lnTo>
                  <a:cubicBezTo>
                    <a:pt x="4160774" y="525780"/>
                    <a:pt x="4109974" y="572770"/>
                    <a:pt x="4049141" y="572770"/>
                  </a:cubicBezTo>
                  <a:lnTo>
                    <a:pt x="4049141" y="555879"/>
                  </a:lnTo>
                  <a:lnTo>
                    <a:pt x="4049141" y="572770"/>
                  </a:lnTo>
                  <a:lnTo>
                    <a:pt x="111633" y="572770"/>
                  </a:lnTo>
                  <a:lnTo>
                    <a:pt x="111633" y="555879"/>
                  </a:lnTo>
                  <a:lnTo>
                    <a:pt x="111633" y="572770"/>
                  </a:lnTo>
                  <a:cubicBezTo>
                    <a:pt x="50800" y="572770"/>
                    <a:pt x="0" y="525780"/>
                    <a:pt x="0" y="465963"/>
                  </a:cubicBezTo>
                  <a:lnTo>
                    <a:pt x="0" y="106807"/>
                  </a:lnTo>
                  <a:lnTo>
                    <a:pt x="16891" y="106807"/>
                  </a:lnTo>
                  <a:lnTo>
                    <a:pt x="0" y="106807"/>
                  </a:lnTo>
                  <a:moveTo>
                    <a:pt x="33909" y="106807"/>
                  </a:moveTo>
                  <a:lnTo>
                    <a:pt x="33909" y="465963"/>
                  </a:lnTo>
                  <a:lnTo>
                    <a:pt x="16891" y="465963"/>
                  </a:lnTo>
                  <a:lnTo>
                    <a:pt x="33909" y="465963"/>
                  </a:lnTo>
                  <a:cubicBezTo>
                    <a:pt x="33909" y="505333"/>
                    <a:pt x="67818" y="538861"/>
                    <a:pt x="111633" y="538861"/>
                  </a:cubicBezTo>
                  <a:lnTo>
                    <a:pt x="4049141" y="538861"/>
                  </a:lnTo>
                  <a:cubicBezTo>
                    <a:pt x="4092956" y="538861"/>
                    <a:pt x="4126865" y="505460"/>
                    <a:pt x="4126865" y="465963"/>
                  </a:cubicBezTo>
                  <a:lnTo>
                    <a:pt x="4126865" y="106807"/>
                  </a:lnTo>
                  <a:cubicBezTo>
                    <a:pt x="4126865" y="67437"/>
                    <a:pt x="4092956" y="33909"/>
                    <a:pt x="4049141" y="33909"/>
                  </a:cubicBezTo>
                  <a:lnTo>
                    <a:pt x="111633" y="33909"/>
                  </a:lnTo>
                  <a:lnTo>
                    <a:pt x="111633" y="16891"/>
                  </a:lnTo>
                  <a:lnTo>
                    <a:pt x="111633" y="33909"/>
                  </a:lnTo>
                  <a:cubicBezTo>
                    <a:pt x="67818" y="33909"/>
                    <a:pt x="33909" y="67310"/>
                    <a:pt x="33909" y="10680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4160761" cy="582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Deep Learning Model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28601" y="9005413"/>
            <a:ext cx="3337843" cy="505774"/>
            <a:chOff x="0" y="0"/>
            <a:chExt cx="4450457" cy="674365"/>
          </a:xfrm>
        </p:grpSpPr>
        <p:sp>
          <p:nvSpPr>
            <p:cNvPr id="23" name="Freeform 23"/>
            <p:cNvSpPr/>
            <p:nvPr/>
          </p:nvSpPr>
          <p:spPr>
            <a:xfrm>
              <a:off x="18067" y="20037"/>
              <a:ext cx="4414336" cy="634306"/>
            </a:xfrm>
            <a:custGeom>
              <a:avLst/>
              <a:gdLst/>
              <a:ahLst/>
              <a:cxnLst/>
              <a:rect l="l" t="t" r="r" b="b"/>
              <a:pathLst>
                <a:path w="4414336" h="634306">
                  <a:moveTo>
                    <a:pt x="0" y="105718"/>
                  </a:moveTo>
                  <a:cubicBezTo>
                    <a:pt x="0" y="47251"/>
                    <a:pt x="45371" y="0"/>
                    <a:pt x="101339" y="0"/>
                  </a:cubicBezTo>
                  <a:lnTo>
                    <a:pt x="4312998" y="0"/>
                  </a:lnTo>
                  <a:cubicBezTo>
                    <a:pt x="4368965" y="0"/>
                    <a:pt x="4414336" y="47401"/>
                    <a:pt x="4414336" y="105718"/>
                  </a:cubicBezTo>
                  <a:lnTo>
                    <a:pt x="4414336" y="528588"/>
                  </a:lnTo>
                  <a:cubicBezTo>
                    <a:pt x="4414336" y="587054"/>
                    <a:pt x="4368965" y="634306"/>
                    <a:pt x="4312998" y="634306"/>
                  </a:cubicBezTo>
                  <a:lnTo>
                    <a:pt x="101339" y="634306"/>
                  </a:lnTo>
                  <a:cubicBezTo>
                    <a:pt x="45371" y="634306"/>
                    <a:pt x="0" y="586905"/>
                    <a:pt x="0" y="528588"/>
                  </a:cubicBezTo>
                  <a:close/>
                </a:path>
              </a:pathLst>
            </a:custGeom>
            <a:solidFill>
              <a:srgbClr val="1F9BC2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4450470" cy="674378"/>
            </a:xfrm>
            <a:custGeom>
              <a:avLst/>
              <a:gdLst/>
              <a:ahLst/>
              <a:cxnLst/>
              <a:rect l="l" t="t" r="r" b="b"/>
              <a:pathLst>
                <a:path w="4450470" h="674378">
                  <a:moveTo>
                    <a:pt x="0" y="125755"/>
                  </a:moveTo>
                  <a:cubicBezTo>
                    <a:pt x="0" y="55326"/>
                    <a:pt x="54337" y="0"/>
                    <a:pt x="119406" y="0"/>
                  </a:cubicBezTo>
                  <a:lnTo>
                    <a:pt x="4331065" y="0"/>
                  </a:lnTo>
                  <a:lnTo>
                    <a:pt x="4331065" y="19887"/>
                  </a:lnTo>
                  <a:lnTo>
                    <a:pt x="4331065" y="0"/>
                  </a:lnTo>
                  <a:cubicBezTo>
                    <a:pt x="4396134" y="0"/>
                    <a:pt x="4450470" y="55326"/>
                    <a:pt x="4450470" y="125755"/>
                  </a:cubicBezTo>
                  <a:lnTo>
                    <a:pt x="4432403" y="125755"/>
                  </a:lnTo>
                  <a:lnTo>
                    <a:pt x="4450470" y="125755"/>
                  </a:lnTo>
                  <a:lnTo>
                    <a:pt x="4450470" y="548625"/>
                  </a:lnTo>
                  <a:lnTo>
                    <a:pt x="4432403" y="548625"/>
                  </a:lnTo>
                  <a:lnTo>
                    <a:pt x="4450470" y="548625"/>
                  </a:lnTo>
                  <a:cubicBezTo>
                    <a:pt x="4450470" y="619054"/>
                    <a:pt x="4396134" y="674378"/>
                    <a:pt x="4331065" y="674378"/>
                  </a:cubicBezTo>
                  <a:lnTo>
                    <a:pt x="4331065" y="654493"/>
                  </a:lnTo>
                  <a:lnTo>
                    <a:pt x="4331065" y="674378"/>
                  </a:lnTo>
                  <a:lnTo>
                    <a:pt x="119406" y="674378"/>
                  </a:lnTo>
                  <a:lnTo>
                    <a:pt x="119406" y="654493"/>
                  </a:lnTo>
                  <a:lnTo>
                    <a:pt x="119406" y="674378"/>
                  </a:lnTo>
                  <a:cubicBezTo>
                    <a:pt x="54337" y="674378"/>
                    <a:pt x="0" y="619054"/>
                    <a:pt x="0" y="548625"/>
                  </a:cubicBezTo>
                  <a:lnTo>
                    <a:pt x="0" y="125755"/>
                  </a:lnTo>
                  <a:lnTo>
                    <a:pt x="18067" y="125755"/>
                  </a:lnTo>
                  <a:lnTo>
                    <a:pt x="0" y="125755"/>
                  </a:lnTo>
                  <a:moveTo>
                    <a:pt x="36270" y="125755"/>
                  </a:moveTo>
                  <a:lnTo>
                    <a:pt x="36270" y="548625"/>
                  </a:lnTo>
                  <a:lnTo>
                    <a:pt x="18067" y="548625"/>
                  </a:lnTo>
                  <a:lnTo>
                    <a:pt x="36270" y="548625"/>
                  </a:lnTo>
                  <a:cubicBezTo>
                    <a:pt x="36270" y="594980"/>
                    <a:pt x="72540" y="634456"/>
                    <a:pt x="119406" y="634456"/>
                  </a:cubicBezTo>
                  <a:lnTo>
                    <a:pt x="4331065" y="634456"/>
                  </a:lnTo>
                  <a:cubicBezTo>
                    <a:pt x="4377931" y="634456"/>
                    <a:pt x="4414200" y="595129"/>
                    <a:pt x="4414200" y="548625"/>
                  </a:cubicBezTo>
                  <a:lnTo>
                    <a:pt x="4414200" y="125755"/>
                  </a:lnTo>
                  <a:cubicBezTo>
                    <a:pt x="4414200" y="79400"/>
                    <a:pt x="4377931" y="39924"/>
                    <a:pt x="4331065" y="39924"/>
                  </a:cubicBezTo>
                  <a:lnTo>
                    <a:pt x="119406" y="39924"/>
                  </a:lnTo>
                  <a:lnTo>
                    <a:pt x="119406" y="19887"/>
                  </a:lnTo>
                  <a:lnTo>
                    <a:pt x="119406" y="39924"/>
                  </a:lnTo>
                  <a:cubicBezTo>
                    <a:pt x="72540" y="39924"/>
                    <a:pt x="36270" y="79251"/>
                    <a:pt x="36270" y="12575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4450457" cy="683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English Text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12482" y="7235857"/>
            <a:ext cx="2931981" cy="2085079"/>
            <a:chOff x="0" y="0"/>
            <a:chExt cx="711265" cy="50581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1265" cy="505816"/>
            </a:xfrm>
            <a:custGeom>
              <a:avLst/>
              <a:gdLst/>
              <a:ahLst/>
              <a:cxnLst/>
              <a:rect l="l" t="t" r="r" b="b"/>
              <a:pathLst>
                <a:path w="711265" h="505816">
                  <a:moveTo>
                    <a:pt x="635065" y="0"/>
                  </a:moveTo>
                  <a:cubicBezTo>
                    <a:pt x="673165" y="0"/>
                    <a:pt x="711265" y="25400"/>
                    <a:pt x="711265" y="63500"/>
                  </a:cubicBezTo>
                  <a:lnTo>
                    <a:pt x="711265" y="302616"/>
                  </a:lnTo>
                  <a:cubicBezTo>
                    <a:pt x="711265" y="340716"/>
                    <a:pt x="673165" y="378816"/>
                    <a:pt x="635065" y="378816"/>
                  </a:cubicBezTo>
                  <a:lnTo>
                    <a:pt x="266700" y="378816"/>
                  </a:lnTo>
                  <a:lnTo>
                    <a:pt x="127000" y="505816"/>
                  </a:lnTo>
                  <a:lnTo>
                    <a:pt x="127000" y="378816"/>
                  </a:lnTo>
                  <a:lnTo>
                    <a:pt x="76200" y="378816"/>
                  </a:lnTo>
                  <a:cubicBezTo>
                    <a:pt x="38100" y="378816"/>
                    <a:pt x="0" y="340716"/>
                    <a:pt x="0" y="302616"/>
                  </a:cubicBezTo>
                  <a:lnTo>
                    <a:pt x="0" y="63500"/>
                  </a:lnTo>
                  <a:cubicBezTo>
                    <a:pt x="0" y="25400"/>
                    <a:pt x="38100" y="0"/>
                    <a:pt x="76200" y="0"/>
                  </a:cubicBezTo>
                  <a:lnTo>
                    <a:pt x="635065" y="0"/>
                  </a:lnTo>
                  <a:close/>
                </a:path>
              </a:pathLst>
            </a:custGeom>
            <a:solidFill>
              <a:srgbClr val="C3E9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00" y="44450"/>
              <a:ext cx="584265" cy="2708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9"/>
                </a:lnSpc>
              </a:pPr>
              <a:r>
                <a:rPr lang="en-US" sz="2599" b="1">
                  <a:solidFill>
                    <a:srgbClr val="1F9BC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Hello!</a:t>
              </a:r>
            </a:p>
            <a:p>
              <a:pPr algn="ctr">
                <a:lnSpc>
                  <a:spcPts val="3119"/>
                </a:lnSpc>
              </a:pPr>
              <a:r>
                <a:rPr lang="en-US" sz="2599" b="1">
                  <a:solidFill>
                    <a:srgbClr val="1F9BC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How are you?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749472" y="6197460"/>
            <a:ext cx="496100" cy="847896"/>
            <a:chOff x="0" y="0"/>
            <a:chExt cx="661467" cy="113052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61416" cy="1130554"/>
            </a:xfrm>
            <a:custGeom>
              <a:avLst/>
              <a:gdLst/>
              <a:ahLst/>
              <a:cxnLst/>
              <a:rect l="l" t="t" r="r" b="b"/>
              <a:pathLst>
                <a:path w="661416" h="1130554">
                  <a:moveTo>
                    <a:pt x="0" y="799846"/>
                  </a:moveTo>
                  <a:lnTo>
                    <a:pt x="165354" y="799846"/>
                  </a:lnTo>
                  <a:lnTo>
                    <a:pt x="165354" y="0"/>
                  </a:lnTo>
                  <a:lnTo>
                    <a:pt x="496062" y="0"/>
                  </a:lnTo>
                  <a:lnTo>
                    <a:pt x="496062" y="799846"/>
                  </a:lnTo>
                  <a:lnTo>
                    <a:pt x="661416" y="799846"/>
                  </a:lnTo>
                  <a:lnTo>
                    <a:pt x="330708" y="1130554"/>
                  </a:lnTo>
                  <a:close/>
                </a:path>
              </a:pathLst>
            </a:custGeom>
            <a:solidFill>
              <a:srgbClr val="32B3A1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6104477" y="1000125"/>
            <a:ext cx="10935557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121259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740503" y="2746858"/>
            <a:ext cx="11663505" cy="148590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The Overview:</a:t>
            </a:r>
            <a:r>
              <a:rPr lang="en-US" sz="3200">
                <a:solidFill>
                  <a:srgbClr val="121259"/>
                </a:solidFill>
                <a:latin typeface="Arial"/>
                <a:ea typeface="Arial"/>
                <a:cs typeface="Arial"/>
                <a:sym typeface="Arial"/>
              </a:rPr>
              <a:t> An automated, deep-learning pipeline translating American Sign Language (ASL) videos directly into English text.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40503" y="4504806"/>
            <a:ext cx="11663505" cy="197167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The Mission: </a:t>
            </a:r>
            <a:r>
              <a:rPr lang="en-US" sz="3200">
                <a:solidFill>
                  <a:srgbClr val="121259"/>
                </a:solidFill>
                <a:latin typeface="Arial"/>
                <a:ea typeface="Arial"/>
                <a:cs typeface="Arial"/>
                <a:sym typeface="Arial"/>
              </a:rPr>
              <a:t>Bridging the communication gap between the 70+ million Deaf/Hard-of-Hearing individuals and the hearing world.</a:t>
            </a:r>
          </a:p>
          <a:p>
            <a:pPr>
              <a:lnSpc>
                <a:spcPts val="3840"/>
              </a:lnSpc>
            </a:pPr>
            <a:endParaRPr lang="en-US" sz="3200">
              <a:solidFill>
                <a:srgbClr val="1212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672850" y="6792496"/>
            <a:ext cx="11798810" cy="148590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The Tech: </a:t>
            </a:r>
            <a:r>
              <a:rPr lang="en-US" sz="3200">
                <a:solidFill>
                  <a:srgbClr val="121259"/>
                </a:solidFill>
                <a:latin typeface="Arial"/>
                <a:ea typeface="Arial"/>
                <a:cs typeface="Arial"/>
                <a:sym typeface="Arial"/>
              </a:rPr>
              <a:t>Powered by Computer Vision (3D spatial tracking) and Sequential Learning (temporal pattern recognition) using Recurrent Neural Networks.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91547" y="453447"/>
            <a:ext cx="17304896" cy="9380096"/>
            <a:chOff x="0" y="0"/>
            <a:chExt cx="23073195" cy="125067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73233" cy="12506833"/>
            </a:xfrm>
            <a:custGeom>
              <a:avLst/>
              <a:gdLst/>
              <a:ahLst/>
              <a:cxnLst/>
              <a:rect l="l" t="t" r="r" b="b"/>
              <a:pathLst>
                <a:path w="23073233" h="12506833">
                  <a:moveTo>
                    <a:pt x="25400" y="0"/>
                  </a:moveTo>
                  <a:lnTo>
                    <a:pt x="23047833" y="0"/>
                  </a:lnTo>
                  <a:cubicBezTo>
                    <a:pt x="23061803" y="0"/>
                    <a:pt x="23073233" y="11430"/>
                    <a:pt x="23073233" y="25400"/>
                  </a:cubicBezTo>
                  <a:lnTo>
                    <a:pt x="23073233" y="12481433"/>
                  </a:lnTo>
                  <a:cubicBezTo>
                    <a:pt x="23073233" y="12495402"/>
                    <a:pt x="23061803" y="12506833"/>
                    <a:pt x="23047833" y="12506833"/>
                  </a:cubicBezTo>
                  <a:lnTo>
                    <a:pt x="25400" y="12506833"/>
                  </a:lnTo>
                  <a:cubicBezTo>
                    <a:pt x="11430" y="12506833"/>
                    <a:pt x="0" y="12495402"/>
                    <a:pt x="0" y="12481433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2481433"/>
                  </a:lnTo>
                  <a:lnTo>
                    <a:pt x="25400" y="12481433"/>
                  </a:lnTo>
                  <a:lnTo>
                    <a:pt x="25400" y="12456033"/>
                  </a:lnTo>
                  <a:lnTo>
                    <a:pt x="23047833" y="12456033"/>
                  </a:lnTo>
                  <a:lnTo>
                    <a:pt x="23047833" y="12481433"/>
                  </a:lnTo>
                  <a:lnTo>
                    <a:pt x="23022433" y="12481433"/>
                  </a:lnTo>
                  <a:lnTo>
                    <a:pt x="23022433" y="25400"/>
                  </a:lnTo>
                  <a:lnTo>
                    <a:pt x="23047833" y="25400"/>
                  </a:lnTo>
                  <a:lnTo>
                    <a:pt x="23047833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104477" y="1000125"/>
            <a:ext cx="10935557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121259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40503" y="2625966"/>
            <a:ext cx="11663505" cy="197167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The Global Context:</a:t>
            </a:r>
            <a:r>
              <a:rPr lang="en-US" sz="3200">
                <a:solidFill>
                  <a:srgbClr val="121259"/>
                </a:solidFill>
                <a:latin typeface="Arial"/>
                <a:ea typeface="Arial"/>
                <a:cs typeface="Arial"/>
                <a:sym typeface="Arial"/>
              </a:rPr>
              <a:t> Over 430 million people worldwide require rehabilitation for ‘disabling’ hearing loss, yet sign language remains widely misunderstood by the hearing population.​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40503" y="4934960"/>
            <a:ext cx="11663505" cy="197167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The Social Barrier: </a:t>
            </a:r>
            <a:r>
              <a:rPr lang="en-US" sz="3200">
                <a:solidFill>
                  <a:srgbClr val="121259"/>
                </a:solidFill>
                <a:latin typeface="Arial"/>
                <a:ea typeface="Arial"/>
                <a:cs typeface="Arial"/>
                <a:sym typeface="Arial"/>
              </a:rPr>
              <a:t>Lack of real-time translation leaves the DHH community marginalized, especially in high-stakes environments (e.g., healthcare, emergency response) where waiting for human interpreters costs critical time.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40503" y="7240010"/>
            <a:ext cx="11663505" cy="100012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Inconsistent Data:</a:t>
            </a:r>
            <a:r>
              <a:rPr lang="en-US" sz="3200">
                <a:solidFill>
                  <a:srgbClr val="121259"/>
                </a:solidFill>
                <a:latin typeface="Arial"/>
                <a:ea typeface="Arial"/>
                <a:cs typeface="Arial"/>
                <a:sym typeface="Arial"/>
              </a:rPr>
              <a:t> Real-world ASL videos vary drastically in length, speed, and spatial positioning.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50786" y="1028700"/>
            <a:ext cx="2570721" cy="2218201"/>
            <a:chOff x="0" y="0"/>
            <a:chExt cx="3427628" cy="295760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2957601" cy="2957601"/>
              <a:chOff x="0" y="0"/>
              <a:chExt cx="2957601" cy="295760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957576" cy="2957576"/>
              </a:xfrm>
              <a:custGeom>
                <a:avLst/>
                <a:gdLst/>
                <a:ahLst/>
                <a:cxnLst/>
                <a:rect l="l" t="t" r="r" b="b"/>
                <a:pathLst>
                  <a:path w="2957576" h="2957576">
                    <a:moveTo>
                      <a:pt x="0" y="1478788"/>
                    </a:moveTo>
                    <a:cubicBezTo>
                      <a:pt x="0" y="662051"/>
                      <a:pt x="662051" y="0"/>
                      <a:pt x="1478788" y="0"/>
                    </a:cubicBezTo>
                    <a:cubicBezTo>
                      <a:pt x="2295525" y="0"/>
                      <a:pt x="2957576" y="662051"/>
                      <a:pt x="2957576" y="1478788"/>
                    </a:cubicBezTo>
                    <a:cubicBezTo>
                      <a:pt x="2957576" y="2295525"/>
                      <a:pt x="2295525" y="2957576"/>
                      <a:pt x="1478788" y="2957576"/>
                    </a:cubicBezTo>
                    <a:cubicBezTo>
                      <a:pt x="662051" y="2957576"/>
                      <a:pt x="0" y="2295525"/>
                      <a:pt x="0" y="147878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13" name="Freeform 13"/>
            <p:cNvSpPr/>
            <p:nvPr/>
          </p:nvSpPr>
          <p:spPr>
            <a:xfrm>
              <a:off x="338125" y="102260"/>
              <a:ext cx="2281453" cy="2753093"/>
            </a:xfrm>
            <a:custGeom>
              <a:avLst/>
              <a:gdLst/>
              <a:ahLst/>
              <a:cxnLst/>
              <a:rect l="l" t="t" r="r" b="b"/>
              <a:pathLst>
                <a:path w="2281453" h="2753093">
                  <a:moveTo>
                    <a:pt x="0" y="0"/>
                  </a:moveTo>
                  <a:lnTo>
                    <a:pt x="2281453" y="0"/>
                  </a:lnTo>
                  <a:lnTo>
                    <a:pt x="2281453" y="2753094"/>
                  </a:lnTo>
                  <a:lnTo>
                    <a:pt x="0" y="2753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4" name="Group 14"/>
            <p:cNvGrpSpPr/>
            <p:nvPr/>
          </p:nvGrpSpPr>
          <p:grpSpPr>
            <a:xfrm>
              <a:off x="2345233" y="1122451"/>
              <a:ext cx="1082396" cy="1082396"/>
              <a:chOff x="0" y="0"/>
              <a:chExt cx="1082396" cy="108239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82421" cy="1082421"/>
              </a:xfrm>
              <a:custGeom>
                <a:avLst/>
                <a:gdLst/>
                <a:ahLst/>
                <a:cxnLst/>
                <a:rect l="l" t="t" r="r" b="b"/>
                <a:pathLst>
                  <a:path w="1082421" h="1082421">
                    <a:moveTo>
                      <a:pt x="0" y="541147"/>
                    </a:moveTo>
                    <a:cubicBezTo>
                      <a:pt x="0" y="242316"/>
                      <a:pt x="242316" y="0"/>
                      <a:pt x="541147" y="0"/>
                    </a:cubicBezTo>
                    <a:cubicBezTo>
                      <a:pt x="839978" y="0"/>
                      <a:pt x="1082421" y="242316"/>
                      <a:pt x="1082421" y="541147"/>
                    </a:cubicBezTo>
                    <a:cubicBezTo>
                      <a:pt x="1082421" y="839978"/>
                      <a:pt x="840105" y="1082421"/>
                      <a:pt x="541147" y="1082421"/>
                    </a:cubicBezTo>
                    <a:cubicBezTo>
                      <a:pt x="242189" y="1082421"/>
                      <a:pt x="0" y="840105"/>
                      <a:pt x="0" y="541147"/>
                    </a:cubicBezTo>
                    <a:close/>
                  </a:path>
                </a:pathLst>
              </a:custGeom>
              <a:solidFill>
                <a:srgbClr val="121259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0"/>
                <a:ext cx="1082396" cy="10823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FS Albert Arabic Bold"/>
                    <a:ea typeface="FS Albert Arabic Bold"/>
                    <a:cs typeface="FS Albert Arabic Bold"/>
                    <a:sym typeface="FS Albert Arabic Bold"/>
                  </a:rPr>
                  <a:t>H</a:t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762991" y="4574172"/>
            <a:ext cx="2307879" cy="2655439"/>
            <a:chOff x="0" y="0"/>
            <a:chExt cx="3077172" cy="3540585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582984"/>
              <a:ext cx="2957601" cy="2957601"/>
              <a:chOff x="0" y="0"/>
              <a:chExt cx="2957601" cy="295760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957576" cy="2957576"/>
              </a:xfrm>
              <a:custGeom>
                <a:avLst/>
                <a:gdLst/>
                <a:ahLst/>
                <a:cxnLst/>
                <a:rect l="l" t="t" r="r" b="b"/>
                <a:pathLst>
                  <a:path w="2957576" h="2957576">
                    <a:moveTo>
                      <a:pt x="0" y="1478788"/>
                    </a:moveTo>
                    <a:cubicBezTo>
                      <a:pt x="0" y="662051"/>
                      <a:pt x="662051" y="0"/>
                      <a:pt x="1478788" y="0"/>
                    </a:cubicBezTo>
                    <a:cubicBezTo>
                      <a:pt x="2295525" y="0"/>
                      <a:pt x="2957576" y="662051"/>
                      <a:pt x="2957576" y="1478788"/>
                    </a:cubicBezTo>
                    <a:cubicBezTo>
                      <a:pt x="2957576" y="2295525"/>
                      <a:pt x="2295525" y="2957576"/>
                      <a:pt x="1478788" y="2957576"/>
                    </a:cubicBezTo>
                    <a:cubicBezTo>
                      <a:pt x="662051" y="2957576"/>
                      <a:pt x="0" y="2295525"/>
                      <a:pt x="0" y="147878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20" name="Freeform 20"/>
            <p:cNvSpPr/>
            <p:nvPr/>
          </p:nvSpPr>
          <p:spPr>
            <a:xfrm>
              <a:off x="570934" y="0"/>
              <a:ext cx="2358915" cy="3540585"/>
            </a:xfrm>
            <a:custGeom>
              <a:avLst/>
              <a:gdLst/>
              <a:ahLst/>
              <a:cxnLst/>
              <a:rect l="l" t="t" r="r" b="b"/>
              <a:pathLst>
                <a:path w="2358915" h="3540585">
                  <a:moveTo>
                    <a:pt x="0" y="0"/>
                  </a:moveTo>
                  <a:lnTo>
                    <a:pt x="2358915" y="0"/>
                  </a:lnTo>
                  <a:lnTo>
                    <a:pt x="2358915" y="3540585"/>
                  </a:lnTo>
                  <a:lnTo>
                    <a:pt x="0" y="3540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grpSp>
          <p:nvGrpSpPr>
            <p:cNvPr id="21" name="Group 21"/>
            <p:cNvGrpSpPr/>
            <p:nvPr/>
          </p:nvGrpSpPr>
          <p:grpSpPr>
            <a:xfrm>
              <a:off x="1994776" y="175047"/>
              <a:ext cx="1082396" cy="1082400"/>
              <a:chOff x="0" y="0"/>
              <a:chExt cx="1082396" cy="10824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082421" cy="1082425"/>
              </a:xfrm>
              <a:custGeom>
                <a:avLst/>
                <a:gdLst/>
                <a:ahLst/>
                <a:cxnLst/>
                <a:rect l="l" t="t" r="r" b="b"/>
                <a:pathLst>
                  <a:path w="1082421" h="1082425">
                    <a:moveTo>
                      <a:pt x="0" y="541149"/>
                    </a:moveTo>
                    <a:cubicBezTo>
                      <a:pt x="0" y="242317"/>
                      <a:pt x="242316" y="0"/>
                      <a:pt x="541147" y="0"/>
                    </a:cubicBezTo>
                    <a:cubicBezTo>
                      <a:pt x="839978" y="0"/>
                      <a:pt x="1082421" y="242317"/>
                      <a:pt x="1082421" y="541149"/>
                    </a:cubicBezTo>
                    <a:cubicBezTo>
                      <a:pt x="1082421" y="839981"/>
                      <a:pt x="840105" y="1082425"/>
                      <a:pt x="541147" y="1082425"/>
                    </a:cubicBezTo>
                    <a:cubicBezTo>
                      <a:pt x="242189" y="1082425"/>
                      <a:pt x="0" y="840108"/>
                      <a:pt x="0" y="541149"/>
                    </a:cubicBezTo>
                    <a:close/>
                  </a:path>
                </a:pathLst>
              </a:custGeom>
              <a:solidFill>
                <a:srgbClr val="D12E2E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0"/>
                <a:ext cx="1082396" cy="1082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FS Albert Arabic Bold"/>
                    <a:ea typeface="FS Albert Arabic Bold"/>
                    <a:cs typeface="FS Albert Arabic Bold"/>
                    <a:sym typeface="FS Albert Arabic Bold"/>
                  </a:rPr>
                  <a:t>L</a:t>
                </a:r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2906956" y="2575858"/>
            <a:ext cx="2593638" cy="2574912"/>
            <a:chOff x="0" y="0"/>
            <a:chExt cx="3458185" cy="3433216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237884"/>
              <a:ext cx="2957601" cy="2957601"/>
              <a:chOff x="0" y="0"/>
              <a:chExt cx="2957601" cy="295760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2957576" cy="2957576"/>
              </a:xfrm>
              <a:custGeom>
                <a:avLst/>
                <a:gdLst/>
                <a:ahLst/>
                <a:cxnLst/>
                <a:rect l="l" t="t" r="r" b="b"/>
                <a:pathLst>
                  <a:path w="2957576" h="2957576">
                    <a:moveTo>
                      <a:pt x="0" y="1478788"/>
                    </a:moveTo>
                    <a:cubicBezTo>
                      <a:pt x="0" y="662051"/>
                      <a:pt x="662051" y="0"/>
                      <a:pt x="1478788" y="0"/>
                    </a:cubicBezTo>
                    <a:cubicBezTo>
                      <a:pt x="2295525" y="0"/>
                      <a:pt x="2957576" y="662051"/>
                      <a:pt x="2957576" y="1478788"/>
                    </a:cubicBezTo>
                    <a:cubicBezTo>
                      <a:pt x="2957576" y="2295525"/>
                      <a:pt x="2295525" y="2957576"/>
                      <a:pt x="1478788" y="2957576"/>
                    </a:cubicBezTo>
                    <a:cubicBezTo>
                      <a:pt x="662051" y="2957576"/>
                      <a:pt x="0" y="2295525"/>
                      <a:pt x="0" y="147878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27" name="Freeform 27"/>
            <p:cNvSpPr/>
            <p:nvPr/>
          </p:nvSpPr>
          <p:spPr>
            <a:xfrm>
              <a:off x="369367" y="0"/>
              <a:ext cx="2218665" cy="3433216"/>
            </a:xfrm>
            <a:custGeom>
              <a:avLst/>
              <a:gdLst/>
              <a:ahLst/>
              <a:cxnLst/>
              <a:rect l="l" t="t" r="r" b="b"/>
              <a:pathLst>
                <a:path w="2218665" h="3433216">
                  <a:moveTo>
                    <a:pt x="0" y="0"/>
                  </a:moveTo>
                  <a:lnTo>
                    <a:pt x="2218664" y="0"/>
                  </a:lnTo>
                  <a:lnTo>
                    <a:pt x="2218664" y="3433216"/>
                  </a:lnTo>
                  <a:lnTo>
                    <a:pt x="0" y="3433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8" name="Group 28"/>
            <p:cNvGrpSpPr/>
            <p:nvPr/>
          </p:nvGrpSpPr>
          <p:grpSpPr>
            <a:xfrm>
              <a:off x="2375789" y="1914500"/>
              <a:ext cx="1082396" cy="1082396"/>
              <a:chOff x="0" y="0"/>
              <a:chExt cx="1082396" cy="108239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082421" cy="1082421"/>
              </a:xfrm>
              <a:custGeom>
                <a:avLst/>
                <a:gdLst/>
                <a:ahLst/>
                <a:cxnLst/>
                <a:rect l="l" t="t" r="r" b="b"/>
                <a:pathLst>
                  <a:path w="1082421" h="1082421">
                    <a:moveTo>
                      <a:pt x="0" y="541147"/>
                    </a:moveTo>
                    <a:cubicBezTo>
                      <a:pt x="0" y="242316"/>
                      <a:pt x="242316" y="0"/>
                      <a:pt x="541147" y="0"/>
                    </a:cubicBezTo>
                    <a:cubicBezTo>
                      <a:pt x="839978" y="0"/>
                      <a:pt x="1082421" y="242316"/>
                      <a:pt x="1082421" y="541147"/>
                    </a:cubicBezTo>
                    <a:cubicBezTo>
                      <a:pt x="1082421" y="839978"/>
                      <a:pt x="840105" y="1082421"/>
                      <a:pt x="541147" y="1082421"/>
                    </a:cubicBezTo>
                    <a:cubicBezTo>
                      <a:pt x="242189" y="1082421"/>
                      <a:pt x="0" y="840105"/>
                      <a:pt x="0" y="541147"/>
                    </a:cubicBezTo>
                    <a:close/>
                  </a:path>
                </a:pathLst>
              </a:custGeom>
              <a:solidFill>
                <a:srgbClr val="D12E2E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0"/>
                <a:ext cx="1082396" cy="10823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FS Albert Arabic Bold"/>
                    <a:ea typeface="FS Albert Arabic Bold"/>
                    <a:cs typeface="FS Albert Arabic Bold"/>
                    <a:sym typeface="FS Albert Arabic Bold"/>
                  </a:rPr>
                  <a:t>E</a:t>
                </a: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2792664" y="6570914"/>
            <a:ext cx="2501577" cy="3029711"/>
            <a:chOff x="0" y="0"/>
            <a:chExt cx="3335436" cy="4039615"/>
          </a:xfrm>
        </p:grpSpPr>
        <p:grpSp>
          <p:nvGrpSpPr>
            <p:cNvPr id="32" name="Group 32"/>
            <p:cNvGrpSpPr/>
            <p:nvPr/>
          </p:nvGrpSpPr>
          <p:grpSpPr>
            <a:xfrm>
              <a:off x="325234" y="291376"/>
              <a:ext cx="2957601" cy="2957601"/>
              <a:chOff x="0" y="0"/>
              <a:chExt cx="2957601" cy="295760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957576" cy="2957576"/>
              </a:xfrm>
              <a:custGeom>
                <a:avLst/>
                <a:gdLst/>
                <a:ahLst/>
                <a:cxnLst/>
                <a:rect l="l" t="t" r="r" b="b"/>
                <a:pathLst>
                  <a:path w="2957576" h="2957576">
                    <a:moveTo>
                      <a:pt x="0" y="1478788"/>
                    </a:moveTo>
                    <a:cubicBezTo>
                      <a:pt x="0" y="662051"/>
                      <a:pt x="662051" y="0"/>
                      <a:pt x="1478788" y="0"/>
                    </a:cubicBezTo>
                    <a:cubicBezTo>
                      <a:pt x="2295525" y="0"/>
                      <a:pt x="2957576" y="662051"/>
                      <a:pt x="2957576" y="1478788"/>
                    </a:cubicBezTo>
                    <a:cubicBezTo>
                      <a:pt x="2957576" y="2295525"/>
                      <a:pt x="2295525" y="2957576"/>
                      <a:pt x="1478788" y="2957576"/>
                    </a:cubicBezTo>
                    <a:cubicBezTo>
                      <a:pt x="662051" y="2957576"/>
                      <a:pt x="0" y="2295525"/>
                      <a:pt x="0" y="147878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0" y="0"/>
              <a:ext cx="1082396" cy="1082400"/>
              <a:chOff x="0" y="0"/>
              <a:chExt cx="1082396" cy="10824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082421" cy="1082425"/>
              </a:xfrm>
              <a:custGeom>
                <a:avLst/>
                <a:gdLst/>
                <a:ahLst/>
                <a:cxnLst/>
                <a:rect l="l" t="t" r="r" b="b"/>
                <a:pathLst>
                  <a:path w="1082421" h="1082425">
                    <a:moveTo>
                      <a:pt x="0" y="541149"/>
                    </a:moveTo>
                    <a:cubicBezTo>
                      <a:pt x="0" y="242317"/>
                      <a:pt x="242316" y="0"/>
                      <a:pt x="541147" y="0"/>
                    </a:cubicBezTo>
                    <a:cubicBezTo>
                      <a:pt x="839978" y="0"/>
                      <a:pt x="1082421" y="242317"/>
                      <a:pt x="1082421" y="541149"/>
                    </a:cubicBezTo>
                    <a:cubicBezTo>
                      <a:pt x="1082421" y="839981"/>
                      <a:pt x="840105" y="1082425"/>
                      <a:pt x="541147" y="1082425"/>
                    </a:cubicBezTo>
                    <a:cubicBezTo>
                      <a:pt x="242189" y="1082425"/>
                      <a:pt x="0" y="840108"/>
                      <a:pt x="0" y="541149"/>
                    </a:cubicBezTo>
                    <a:close/>
                  </a:path>
                </a:pathLst>
              </a:custGeom>
              <a:solidFill>
                <a:srgbClr val="121259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0"/>
                <a:ext cx="1082396" cy="1082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FS Albert Arabic Bold"/>
                    <a:ea typeface="FS Albert Arabic Bold"/>
                    <a:cs typeface="FS Albert Arabic Bold"/>
                    <a:sym typeface="FS Albert Arabic Bold"/>
                  </a:rPr>
                  <a:t>P</a:t>
                </a:r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325234" y="630100"/>
              <a:ext cx="3010202" cy="3409515"/>
            </a:xfrm>
            <a:custGeom>
              <a:avLst/>
              <a:gdLst/>
              <a:ahLst/>
              <a:cxnLst/>
              <a:rect l="l" t="t" r="r" b="b"/>
              <a:pathLst>
                <a:path w="3010202" h="3409515">
                  <a:moveTo>
                    <a:pt x="0" y="0"/>
                  </a:moveTo>
                  <a:lnTo>
                    <a:pt x="3010202" y="0"/>
                  </a:lnTo>
                  <a:lnTo>
                    <a:pt x="3010202" y="3409515"/>
                  </a:lnTo>
                  <a:lnTo>
                    <a:pt x="0" y="3409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62972" y="453447"/>
            <a:ext cx="17304896" cy="9380096"/>
            <a:chOff x="0" y="0"/>
            <a:chExt cx="23073195" cy="125067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73233" cy="12506833"/>
            </a:xfrm>
            <a:custGeom>
              <a:avLst/>
              <a:gdLst/>
              <a:ahLst/>
              <a:cxnLst/>
              <a:rect l="l" t="t" r="r" b="b"/>
              <a:pathLst>
                <a:path w="23073233" h="12506833">
                  <a:moveTo>
                    <a:pt x="25400" y="0"/>
                  </a:moveTo>
                  <a:lnTo>
                    <a:pt x="23047833" y="0"/>
                  </a:lnTo>
                  <a:cubicBezTo>
                    <a:pt x="23061803" y="0"/>
                    <a:pt x="23073233" y="11430"/>
                    <a:pt x="23073233" y="25400"/>
                  </a:cubicBezTo>
                  <a:lnTo>
                    <a:pt x="23073233" y="12481433"/>
                  </a:lnTo>
                  <a:cubicBezTo>
                    <a:pt x="23073233" y="12495402"/>
                    <a:pt x="23061803" y="12506833"/>
                    <a:pt x="23047833" y="12506833"/>
                  </a:cubicBezTo>
                  <a:lnTo>
                    <a:pt x="25400" y="12506833"/>
                  </a:lnTo>
                  <a:cubicBezTo>
                    <a:pt x="11430" y="12506833"/>
                    <a:pt x="0" y="12495402"/>
                    <a:pt x="0" y="12481433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2481433"/>
                  </a:lnTo>
                  <a:lnTo>
                    <a:pt x="25400" y="12481433"/>
                  </a:lnTo>
                  <a:lnTo>
                    <a:pt x="25400" y="12456033"/>
                  </a:lnTo>
                  <a:lnTo>
                    <a:pt x="23047833" y="12456033"/>
                  </a:lnTo>
                  <a:lnTo>
                    <a:pt x="23047833" y="12481433"/>
                  </a:lnTo>
                  <a:lnTo>
                    <a:pt x="23022433" y="12481433"/>
                  </a:lnTo>
                  <a:lnTo>
                    <a:pt x="23022433" y="25400"/>
                  </a:lnTo>
                  <a:lnTo>
                    <a:pt x="23047833" y="25400"/>
                  </a:lnTo>
                  <a:lnTo>
                    <a:pt x="23047833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852988" y="2254553"/>
            <a:ext cx="12582024" cy="7426902"/>
          </a:xfrm>
          <a:custGeom>
            <a:avLst/>
            <a:gdLst/>
            <a:ahLst/>
            <a:cxnLst/>
            <a:rect l="l" t="t" r="r" b="b"/>
            <a:pathLst>
              <a:path w="12582024" h="7426902">
                <a:moveTo>
                  <a:pt x="0" y="0"/>
                </a:moveTo>
                <a:lnTo>
                  <a:pt x="12582024" y="0"/>
                </a:lnTo>
                <a:lnTo>
                  <a:pt x="12582024" y="7426902"/>
                </a:lnTo>
                <a:lnTo>
                  <a:pt x="0" y="742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189" b="-1233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88356" y="656258"/>
            <a:ext cx="11911289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121259"/>
                </a:solidFill>
                <a:latin typeface="Arial"/>
                <a:ea typeface="Arial"/>
                <a:cs typeface="Arial"/>
                <a:sym typeface="Arial"/>
              </a:rPr>
              <a:t>SOLUTION / INNOVATION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8313" y="1774389"/>
            <a:ext cx="16954242" cy="409575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121259"/>
                </a:solidFill>
                <a:latin typeface="Arial"/>
                <a:ea typeface="Arial"/>
                <a:cs typeface="Arial"/>
                <a:sym typeface="Arial"/>
              </a:rPr>
              <a:t>A scalable, modular architecture that decouples spatial feature extraction from temporal sequence learning.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62972" y="453447"/>
            <a:ext cx="17304896" cy="9380096"/>
            <a:chOff x="0" y="0"/>
            <a:chExt cx="23073195" cy="125067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73233" cy="12506833"/>
            </a:xfrm>
            <a:custGeom>
              <a:avLst/>
              <a:gdLst/>
              <a:ahLst/>
              <a:cxnLst/>
              <a:rect l="l" t="t" r="r" b="b"/>
              <a:pathLst>
                <a:path w="23073233" h="12506833">
                  <a:moveTo>
                    <a:pt x="25400" y="0"/>
                  </a:moveTo>
                  <a:lnTo>
                    <a:pt x="23047833" y="0"/>
                  </a:lnTo>
                  <a:cubicBezTo>
                    <a:pt x="23061803" y="0"/>
                    <a:pt x="23073233" y="11430"/>
                    <a:pt x="23073233" y="25400"/>
                  </a:cubicBezTo>
                  <a:lnTo>
                    <a:pt x="23073233" y="12481433"/>
                  </a:lnTo>
                  <a:cubicBezTo>
                    <a:pt x="23073233" y="12495402"/>
                    <a:pt x="23061803" y="12506833"/>
                    <a:pt x="23047833" y="12506833"/>
                  </a:cubicBezTo>
                  <a:lnTo>
                    <a:pt x="25400" y="12506833"/>
                  </a:lnTo>
                  <a:cubicBezTo>
                    <a:pt x="11430" y="12506833"/>
                    <a:pt x="0" y="12495402"/>
                    <a:pt x="0" y="12481433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2481433"/>
                  </a:lnTo>
                  <a:lnTo>
                    <a:pt x="25400" y="12481433"/>
                  </a:lnTo>
                  <a:lnTo>
                    <a:pt x="25400" y="12456033"/>
                  </a:lnTo>
                  <a:lnTo>
                    <a:pt x="23047833" y="12456033"/>
                  </a:lnTo>
                  <a:lnTo>
                    <a:pt x="23047833" y="12481433"/>
                  </a:lnTo>
                  <a:lnTo>
                    <a:pt x="23022433" y="12481433"/>
                  </a:lnTo>
                  <a:lnTo>
                    <a:pt x="23022433" y="25400"/>
                  </a:lnTo>
                  <a:lnTo>
                    <a:pt x="23047833" y="25400"/>
                  </a:lnTo>
                  <a:lnTo>
                    <a:pt x="23047833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358207" y="3562199"/>
            <a:ext cx="2293603" cy="2125171"/>
            <a:chOff x="0" y="0"/>
            <a:chExt cx="604076" cy="5597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4076" cy="559716"/>
            </a:xfrm>
            <a:custGeom>
              <a:avLst/>
              <a:gdLst/>
              <a:ahLst/>
              <a:cxnLst/>
              <a:rect l="l" t="t" r="r" b="b"/>
              <a:pathLst>
                <a:path w="604076" h="559716">
                  <a:moveTo>
                    <a:pt x="172147" y="0"/>
                  </a:moveTo>
                  <a:lnTo>
                    <a:pt x="431929" y="0"/>
                  </a:lnTo>
                  <a:cubicBezTo>
                    <a:pt x="527003" y="0"/>
                    <a:pt x="604076" y="77073"/>
                    <a:pt x="604076" y="172147"/>
                  </a:cubicBezTo>
                  <a:lnTo>
                    <a:pt x="604076" y="387568"/>
                  </a:lnTo>
                  <a:cubicBezTo>
                    <a:pt x="604076" y="433225"/>
                    <a:pt x="585940" y="477011"/>
                    <a:pt x="553656" y="509295"/>
                  </a:cubicBezTo>
                  <a:cubicBezTo>
                    <a:pt x="521372" y="541579"/>
                    <a:pt x="477585" y="559716"/>
                    <a:pt x="431929" y="559716"/>
                  </a:cubicBezTo>
                  <a:lnTo>
                    <a:pt x="172147" y="559716"/>
                  </a:lnTo>
                  <a:cubicBezTo>
                    <a:pt x="77073" y="559716"/>
                    <a:pt x="0" y="482643"/>
                    <a:pt x="0" y="387568"/>
                  </a:cubicBezTo>
                  <a:lnTo>
                    <a:pt x="0" y="172147"/>
                  </a:lnTo>
                  <a:cubicBezTo>
                    <a:pt x="0" y="77073"/>
                    <a:pt x="77073" y="0"/>
                    <a:pt x="1721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604076" cy="559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970088" y="3412879"/>
            <a:ext cx="2325014" cy="2274491"/>
            <a:chOff x="0" y="0"/>
            <a:chExt cx="612349" cy="5990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2349" cy="599043"/>
            </a:xfrm>
            <a:custGeom>
              <a:avLst/>
              <a:gdLst/>
              <a:ahLst/>
              <a:cxnLst/>
              <a:rect l="l" t="t" r="r" b="b"/>
              <a:pathLst>
                <a:path w="612349" h="599043">
                  <a:moveTo>
                    <a:pt x="169822" y="0"/>
                  </a:moveTo>
                  <a:lnTo>
                    <a:pt x="442528" y="0"/>
                  </a:lnTo>
                  <a:cubicBezTo>
                    <a:pt x="487567" y="0"/>
                    <a:pt x="530762" y="17892"/>
                    <a:pt x="562610" y="49740"/>
                  </a:cubicBezTo>
                  <a:cubicBezTo>
                    <a:pt x="594457" y="81587"/>
                    <a:pt x="612349" y="124782"/>
                    <a:pt x="612349" y="169822"/>
                  </a:cubicBezTo>
                  <a:lnTo>
                    <a:pt x="612349" y="429221"/>
                  </a:lnTo>
                  <a:cubicBezTo>
                    <a:pt x="612349" y="474261"/>
                    <a:pt x="594457" y="517455"/>
                    <a:pt x="562610" y="549303"/>
                  </a:cubicBezTo>
                  <a:cubicBezTo>
                    <a:pt x="530762" y="581151"/>
                    <a:pt x="487567" y="599043"/>
                    <a:pt x="442528" y="599043"/>
                  </a:cubicBezTo>
                  <a:lnTo>
                    <a:pt x="169822" y="599043"/>
                  </a:lnTo>
                  <a:cubicBezTo>
                    <a:pt x="124782" y="599043"/>
                    <a:pt x="81587" y="581151"/>
                    <a:pt x="49740" y="549303"/>
                  </a:cubicBezTo>
                  <a:cubicBezTo>
                    <a:pt x="17892" y="517455"/>
                    <a:pt x="0" y="474261"/>
                    <a:pt x="0" y="429221"/>
                  </a:cubicBezTo>
                  <a:lnTo>
                    <a:pt x="0" y="169822"/>
                  </a:lnTo>
                  <a:cubicBezTo>
                    <a:pt x="0" y="124782"/>
                    <a:pt x="17892" y="81587"/>
                    <a:pt x="49740" y="49740"/>
                  </a:cubicBezTo>
                  <a:cubicBezTo>
                    <a:pt x="81587" y="17892"/>
                    <a:pt x="124782" y="0"/>
                    <a:pt x="1698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612349" cy="599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80852" y="3412879"/>
            <a:ext cx="2372905" cy="2274491"/>
            <a:chOff x="0" y="0"/>
            <a:chExt cx="624963" cy="5990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4963" cy="599043"/>
            </a:xfrm>
            <a:custGeom>
              <a:avLst/>
              <a:gdLst/>
              <a:ahLst/>
              <a:cxnLst/>
              <a:rect l="l" t="t" r="r" b="b"/>
              <a:pathLst>
                <a:path w="624963" h="599043">
                  <a:moveTo>
                    <a:pt x="166394" y="0"/>
                  </a:moveTo>
                  <a:lnTo>
                    <a:pt x="458568" y="0"/>
                  </a:lnTo>
                  <a:cubicBezTo>
                    <a:pt x="502699" y="0"/>
                    <a:pt x="545022" y="17531"/>
                    <a:pt x="576227" y="48736"/>
                  </a:cubicBezTo>
                  <a:cubicBezTo>
                    <a:pt x="607432" y="79941"/>
                    <a:pt x="624963" y="122264"/>
                    <a:pt x="624963" y="166394"/>
                  </a:cubicBezTo>
                  <a:lnTo>
                    <a:pt x="624963" y="432649"/>
                  </a:lnTo>
                  <a:cubicBezTo>
                    <a:pt x="624963" y="524546"/>
                    <a:pt x="550465" y="599043"/>
                    <a:pt x="458568" y="599043"/>
                  </a:cubicBezTo>
                  <a:lnTo>
                    <a:pt x="166394" y="599043"/>
                  </a:lnTo>
                  <a:cubicBezTo>
                    <a:pt x="122264" y="599043"/>
                    <a:pt x="79941" y="581512"/>
                    <a:pt x="48736" y="550307"/>
                  </a:cubicBezTo>
                  <a:cubicBezTo>
                    <a:pt x="17531" y="519102"/>
                    <a:pt x="0" y="476779"/>
                    <a:pt x="0" y="432649"/>
                  </a:cubicBezTo>
                  <a:lnTo>
                    <a:pt x="0" y="166394"/>
                  </a:lnTo>
                  <a:cubicBezTo>
                    <a:pt x="0" y="122264"/>
                    <a:pt x="17531" y="79941"/>
                    <a:pt x="48736" y="48736"/>
                  </a:cubicBezTo>
                  <a:cubicBezTo>
                    <a:pt x="79941" y="17531"/>
                    <a:pt x="122264" y="0"/>
                    <a:pt x="1663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624963" cy="599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36404" y="3562199"/>
            <a:ext cx="2347946" cy="2125171"/>
            <a:chOff x="0" y="0"/>
            <a:chExt cx="618389" cy="5597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18389" cy="559716"/>
            </a:xfrm>
            <a:custGeom>
              <a:avLst/>
              <a:gdLst/>
              <a:ahLst/>
              <a:cxnLst/>
              <a:rect l="l" t="t" r="r" b="b"/>
              <a:pathLst>
                <a:path w="618389" h="559716">
                  <a:moveTo>
                    <a:pt x="168163" y="0"/>
                  </a:moveTo>
                  <a:lnTo>
                    <a:pt x="450226" y="0"/>
                  </a:lnTo>
                  <a:cubicBezTo>
                    <a:pt x="543100" y="0"/>
                    <a:pt x="618389" y="75289"/>
                    <a:pt x="618389" y="168163"/>
                  </a:cubicBezTo>
                  <a:lnTo>
                    <a:pt x="618389" y="391553"/>
                  </a:lnTo>
                  <a:cubicBezTo>
                    <a:pt x="618389" y="436152"/>
                    <a:pt x="600672" y="478925"/>
                    <a:pt x="569135" y="510462"/>
                  </a:cubicBezTo>
                  <a:cubicBezTo>
                    <a:pt x="537598" y="541999"/>
                    <a:pt x="494825" y="559716"/>
                    <a:pt x="450226" y="559716"/>
                  </a:cubicBezTo>
                  <a:lnTo>
                    <a:pt x="168163" y="559716"/>
                  </a:lnTo>
                  <a:cubicBezTo>
                    <a:pt x="75289" y="559716"/>
                    <a:pt x="0" y="484427"/>
                    <a:pt x="0" y="391553"/>
                  </a:cubicBezTo>
                  <a:lnTo>
                    <a:pt x="0" y="168163"/>
                  </a:lnTo>
                  <a:cubicBezTo>
                    <a:pt x="0" y="123564"/>
                    <a:pt x="17717" y="80791"/>
                    <a:pt x="49254" y="49254"/>
                  </a:cubicBezTo>
                  <a:cubicBezTo>
                    <a:pt x="80791" y="17717"/>
                    <a:pt x="123564" y="0"/>
                    <a:pt x="1681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618389" cy="559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870100" y="3310919"/>
            <a:ext cx="2437776" cy="2376451"/>
            <a:chOff x="0" y="0"/>
            <a:chExt cx="642048" cy="6258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42048" cy="625896"/>
            </a:xfrm>
            <a:custGeom>
              <a:avLst/>
              <a:gdLst/>
              <a:ahLst/>
              <a:cxnLst/>
              <a:rect l="l" t="t" r="r" b="b"/>
              <a:pathLst>
                <a:path w="642048" h="625896">
                  <a:moveTo>
                    <a:pt x="161966" y="0"/>
                  </a:moveTo>
                  <a:lnTo>
                    <a:pt x="480082" y="0"/>
                  </a:lnTo>
                  <a:cubicBezTo>
                    <a:pt x="569533" y="0"/>
                    <a:pt x="642048" y="72515"/>
                    <a:pt x="642048" y="161966"/>
                  </a:cubicBezTo>
                  <a:lnTo>
                    <a:pt x="642048" y="463930"/>
                  </a:lnTo>
                  <a:cubicBezTo>
                    <a:pt x="642048" y="553382"/>
                    <a:pt x="569533" y="625896"/>
                    <a:pt x="480082" y="625896"/>
                  </a:cubicBezTo>
                  <a:lnTo>
                    <a:pt x="161966" y="625896"/>
                  </a:lnTo>
                  <a:cubicBezTo>
                    <a:pt x="72515" y="625896"/>
                    <a:pt x="0" y="553382"/>
                    <a:pt x="0" y="463930"/>
                  </a:cubicBezTo>
                  <a:lnTo>
                    <a:pt x="0" y="161966"/>
                  </a:lnTo>
                  <a:cubicBezTo>
                    <a:pt x="0" y="72515"/>
                    <a:pt x="72515" y="0"/>
                    <a:pt x="1619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642048" cy="6258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601853" y="4001980"/>
            <a:ext cx="2293603" cy="1685390"/>
            <a:chOff x="0" y="0"/>
            <a:chExt cx="604076" cy="44388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04076" cy="443889"/>
            </a:xfrm>
            <a:custGeom>
              <a:avLst/>
              <a:gdLst/>
              <a:ahLst/>
              <a:cxnLst/>
              <a:rect l="l" t="t" r="r" b="b"/>
              <a:pathLst>
                <a:path w="604076" h="443889">
                  <a:moveTo>
                    <a:pt x="172147" y="0"/>
                  </a:moveTo>
                  <a:lnTo>
                    <a:pt x="431929" y="0"/>
                  </a:lnTo>
                  <a:cubicBezTo>
                    <a:pt x="527003" y="0"/>
                    <a:pt x="604076" y="77073"/>
                    <a:pt x="604076" y="172147"/>
                  </a:cubicBezTo>
                  <a:lnTo>
                    <a:pt x="604076" y="271741"/>
                  </a:lnTo>
                  <a:cubicBezTo>
                    <a:pt x="604076" y="366816"/>
                    <a:pt x="527003" y="443889"/>
                    <a:pt x="431929" y="443889"/>
                  </a:cubicBezTo>
                  <a:lnTo>
                    <a:pt x="172147" y="443889"/>
                  </a:lnTo>
                  <a:cubicBezTo>
                    <a:pt x="77073" y="443889"/>
                    <a:pt x="0" y="366816"/>
                    <a:pt x="0" y="271741"/>
                  </a:cubicBezTo>
                  <a:lnTo>
                    <a:pt x="0" y="172147"/>
                  </a:lnTo>
                  <a:cubicBezTo>
                    <a:pt x="0" y="77073"/>
                    <a:pt x="77073" y="0"/>
                    <a:pt x="1721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604076" cy="443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990953" y="3492181"/>
            <a:ext cx="16248935" cy="5766119"/>
          </a:xfrm>
          <a:custGeom>
            <a:avLst/>
            <a:gdLst/>
            <a:ahLst/>
            <a:cxnLst/>
            <a:rect l="l" t="t" r="r" b="b"/>
            <a:pathLst>
              <a:path w="16248935" h="5766119">
                <a:moveTo>
                  <a:pt x="0" y="0"/>
                </a:moveTo>
                <a:lnTo>
                  <a:pt x="16248935" y="0"/>
                </a:lnTo>
                <a:lnTo>
                  <a:pt x="16248935" y="5766119"/>
                </a:lnTo>
                <a:lnTo>
                  <a:pt x="0" y="5766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4076" b="-8232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188356" y="741983"/>
            <a:ext cx="11911289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121259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879" y="2090592"/>
            <a:ext cx="16954242" cy="85725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121259"/>
                </a:solidFill>
                <a:latin typeface="Arial"/>
                <a:ea typeface="Arial"/>
                <a:cs typeface="Arial"/>
                <a:sym typeface="Arial"/>
              </a:rPr>
              <a:t>An end-to-end automated pipeline translating raw video into text through spatial landmark normalization and temporal sequence modeling.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91547" y="453447"/>
            <a:ext cx="17304896" cy="9380096"/>
            <a:chOff x="0" y="0"/>
            <a:chExt cx="23073195" cy="125067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73233" cy="12506833"/>
            </a:xfrm>
            <a:custGeom>
              <a:avLst/>
              <a:gdLst/>
              <a:ahLst/>
              <a:cxnLst/>
              <a:rect l="l" t="t" r="r" b="b"/>
              <a:pathLst>
                <a:path w="23073233" h="12506833">
                  <a:moveTo>
                    <a:pt x="25400" y="0"/>
                  </a:moveTo>
                  <a:lnTo>
                    <a:pt x="23047833" y="0"/>
                  </a:lnTo>
                  <a:cubicBezTo>
                    <a:pt x="23061803" y="0"/>
                    <a:pt x="23073233" y="11430"/>
                    <a:pt x="23073233" y="25400"/>
                  </a:cubicBezTo>
                  <a:lnTo>
                    <a:pt x="23073233" y="12481433"/>
                  </a:lnTo>
                  <a:cubicBezTo>
                    <a:pt x="23073233" y="12495402"/>
                    <a:pt x="23061803" y="12506833"/>
                    <a:pt x="23047833" y="12506833"/>
                  </a:cubicBezTo>
                  <a:lnTo>
                    <a:pt x="25400" y="12506833"/>
                  </a:lnTo>
                  <a:cubicBezTo>
                    <a:pt x="11430" y="12506833"/>
                    <a:pt x="0" y="12495402"/>
                    <a:pt x="0" y="12481433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2481433"/>
                  </a:lnTo>
                  <a:lnTo>
                    <a:pt x="25400" y="12481433"/>
                  </a:lnTo>
                  <a:lnTo>
                    <a:pt x="25400" y="12456033"/>
                  </a:lnTo>
                  <a:lnTo>
                    <a:pt x="23047833" y="12456033"/>
                  </a:lnTo>
                  <a:lnTo>
                    <a:pt x="23047833" y="12481433"/>
                  </a:lnTo>
                  <a:lnTo>
                    <a:pt x="23022433" y="12481433"/>
                  </a:lnTo>
                  <a:lnTo>
                    <a:pt x="23022433" y="25400"/>
                  </a:lnTo>
                  <a:lnTo>
                    <a:pt x="23047833" y="25400"/>
                  </a:lnTo>
                  <a:lnTo>
                    <a:pt x="23047833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23104" y="2389908"/>
          <a:ext cx="16002000" cy="7112000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400"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3600" b="1">
                          <a:solidFill>
                            <a:srgbClr val="121259"/>
                          </a:solidFill>
                          <a:latin typeface="FS Albert Arabic Bold"/>
                          <a:ea typeface="FS Albert Arabic Bold"/>
                          <a:cs typeface="FS Albert Arabic Bold"/>
                          <a:sym typeface="FS Albert Arabic Bold"/>
                        </a:rPr>
                        <a:t>METRIC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3600" b="1">
                          <a:solidFill>
                            <a:srgbClr val="121259"/>
                          </a:solidFill>
                          <a:latin typeface="FS Albert Arabic Bold"/>
                          <a:ea typeface="FS Albert Arabic Bold"/>
                          <a:cs typeface="FS Albert Arabic Bold"/>
                          <a:sym typeface="FS Albert Arabic Bold"/>
                        </a:rPr>
                        <a:t>BiGRU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3600" b="1">
                          <a:solidFill>
                            <a:srgbClr val="121259"/>
                          </a:solidFill>
                          <a:latin typeface="FS Albert Arabic Bold"/>
                          <a:ea typeface="FS Albert Arabic Bold"/>
                          <a:cs typeface="FS Albert Arabic Bold"/>
                          <a:sym typeface="FS Albert Arabic Bold"/>
                        </a:rPr>
                        <a:t>BiLSTM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2400">
                <a:tc>
                  <a:txBody>
                    <a:bodyPr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1212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Peak Validation Accuracy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121259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83%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121259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71%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400">
                <a:tc>
                  <a:txBody>
                    <a:bodyPr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1212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 Score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121259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82%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121259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69%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2400">
                <a:tc>
                  <a:txBody>
                    <a:bodyPr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1212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Final Validation Loss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121259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~0.85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121259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~1.10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2400">
                <a:tc>
                  <a:txBody>
                    <a:bodyPr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1212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Convergence Speed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1212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Faster (35-40 Epochs)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1212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Slower (50+ Epochs)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7328133" y="614231"/>
            <a:ext cx="3631724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39"/>
              </a:lnSpc>
            </a:pPr>
            <a:r>
              <a:rPr lang="en-US" sz="6199">
                <a:solidFill>
                  <a:srgbClr val="121259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28133" y="1566731"/>
            <a:ext cx="3631724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Metrics Table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91547" y="453447"/>
            <a:ext cx="17304896" cy="9380096"/>
            <a:chOff x="0" y="0"/>
            <a:chExt cx="23073195" cy="125067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73233" cy="12506833"/>
            </a:xfrm>
            <a:custGeom>
              <a:avLst/>
              <a:gdLst/>
              <a:ahLst/>
              <a:cxnLst/>
              <a:rect l="l" t="t" r="r" b="b"/>
              <a:pathLst>
                <a:path w="23073233" h="12506833">
                  <a:moveTo>
                    <a:pt x="25400" y="0"/>
                  </a:moveTo>
                  <a:lnTo>
                    <a:pt x="23047833" y="0"/>
                  </a:lnTo>
                  <a:cubicBezTo>
                    <a:pt x="23061803" y="0"/>
                    <a:pt x="23073233" y="11430"/>
                    <a:pt x="23073233" y="25400"/>
                  </a:cubicBezTo>
                  <a:lnTo>
                    <a:pt x="23073233" y="12481433"/>
                  </a:lnTo>
                  <a:cubicBezTo>
                    <a:pt x="23073233" y="12495402"/>
                    <a:pt x="23061803" y="12506833"/>
                    <a:pt x="23047833" y="12506833"/>
                  </a:cubicBezTo>
                  <a:lnTo>
                    <a:pt x="25400" y="12506833"/>
                  </a:lnTo>
                  <a:cubicBezTo>
                    <a:pt x="11430" y="12506833"/>
                    <a:pt x="0" y="12495402"/>
                    <a:pt x="0" y="12481433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2481433"/>
                  </a:lnTo>
                  <a:lnTo>
                    <a:pt x="25400" y="12481433"/>
                  </a:lnTo>
                  <a:lnTo>
                    <a:pt x="25400" y="12456033"/>
                  </a:lnTo>
                  <a:lnTo>
                    <a:pt x="23047833" y="12456033"/>
                  </a:lnTo>
                  <a:lnTo>
                    <a:pt x="23047833" y="12481433"/>
                  </a:lnTo>
                  <a:lnTo>
                    <a:pt x="23022433" y="12481433"/>
                  </a:lnTo>
                  <a:lnTo>
                    <a:pt x="23022433" y="25400"/>
                  </a:lnTo>
                  <a:lnTo>
                    <a:pt x="23047833" y="25400"/>
                  </a:lnTo>
                  <a:lnTo>
                    <a:pt x="23047833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642326" y="2164062"/>
            <a:ext cx="17003348" cy="7019387"/>
          </a:xfrm>
          <a:custGeom>
            <a:avLst/>
            <a:gdLst/>
            <a:ahLst/>
            <a:cxnLst/>
            <a:rect l="l" t="t" r="r" b="b"/>
            <a:pathLst>
              <a:path w="17003348" h="7019387">
                <a:moveTo>
                  <a:pt x="0" y="0"/>
                </a:moveTo>
                <a:lnTo>
                  <a:pt x="17003348" y="0"/>
                </a:lnTo>
                <a:lnTo>
                  <a:pt x="17003348" y="7019387"/>
                </a:lnTo>
                <a:lnTo>
                  <a:pt x="0" y="7019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35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328133" y="614231"/>
            <a:ext cx="3631724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39"/>
              </a:lnSpc>
            </a:pPr>
            <a:r>
              <a:rPr lang="en-US" sz="6199">
                <a:solidFill>
                  <a:srgbClr val="121259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28133" y="1566731"/>
            <a:ext cx="3631724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F1 Score Graph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91547" y="453447"/>
            <a:ext cx="17304896" cy="9380096"/>
            <a:chOff x="0" y="0"/>
            <a:chExt cx="23073195" cy="125067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73233" cy="12506833"/>
            </a:xfrm>
            <a:custGeom>
              <a:avLst/>
              <a:gdLst/>
              <a:ahLst/>
              <a:cxnLst/>
              <a:rect l="l" t="t" r="r" b="b"/>
              <a:pathLst>
                <a:path w="23073233" h="12506833">
                  <a:moveTo>
                    <a:pt x="25400" y="0"/>
                  </a:moveTo>
                  <a:lnTo>
                    <a:pt x="23047833" y="0"/>
                  </a:lnTo>
                  <a:cubicBezTo>
                    <a:pt x="23061803" y="0"/>
                    <a:pt x="23073233" y="11430"/>
                    <a:pt x="23073233" y="25400"/>
                  </a:cubicBezTo>
                  <a:lnTo>
                    <a:pt x="23073233" y="12481433"/>
                  </a:lnTo>
                  <a:cubicBezTo>
                    <a:pt x="23073233" y="12495402"/>
                    <a:pt x="23061803" y="12506833"/>
                    <a:pt x="23047833" y="12506833"/>
                  </a:cubicBezTo>
                  <a:lnTo>
                    <a:pt x="25400" y="12506833"/>
                  </a:lnTo>
                  <a:cubicBezTo>
                    <a:pt x="11430" y="12506833"/>
                    <a:pt x="0" y="12495402"/>
                    <a:pt x="0" y="12481433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2481433"/>
                  </a:lnTo>
                  <a:lnTo>
                    <a:pt x="25400" y="12481433"/>
                  </a:lnTo>
                  <a:lnTo>
                    <a:pt x="25400" y="12456033"/>
                  </a:lnTo>
                  <a:lnTo>
                    <a:pt x="23047833" y="12456033"/>
                  </a:lnTo>
                  <a:lnTo>
                    <a:pt x="23047833" y="12481433"/>
                  </a:lnTo>
                  <a:lnTo>
                    <a:pt x="23022433" y="12481433"/>
                  </a:lnTo>
                  <a:lnTo>
                    <a:pt x="23022433" y="25400"/>
                  </a:lnTo>
                  <a:lnTo>
                    <a:pt x="23047833" y="25400"/>
                  </a:lnTo>
                  <a:lnTo>
                    <a:pt x="23047833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42052" y="1576388"/>
            <a:ext cx="5544519" cy="8321979"/>
          </a:xfrm>
          <a:custGeom>
            <a:avLst/>
            <a:gdLst/>
            <a:ahLst/>
            <a:cxnLst/>
            <a:rect l="l" t="t" r="r" b="b"/>
            <a:pathLst>
              <a:path w="5544519" h="8321979">
                <a:moveTo>
                  <a:pt x="0" y="0"/>
                </a:moveTo>
                <a:lnTo>
                  <a:pt x="5544519" y="0"/>
                </a:lnTo>
                <a:lnTo>
                  <a:pt x="5544519" y="8321979"/>
                </a:lnTo>
                <a:lnTo>
                  <a:pt x="0" y="83219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104478" y="1000125"/>
            <a:ext cx="11148568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121259"/>
                </a:solidFill>
                <a:latin typeface="Arial"/>
                <a:ea typeface="Arial"/>
                <a:cs typeface="Arial"/>
                <a:sym typeface="Arial"/>
              </a:rPr>
              <a:t>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86572" y="2526854"/>
            <a:ext cx="7094858" cy="48731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External Impact (The End-User)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01508" y="3238166"/>
            <a:ext cx="11148568" cy="100012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Real-World Accessibility: Lays the foundation for a low-latency, daily-use translation tool.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01508" y="4423449"/>
            <a:ext cx="11148568" cy="100012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High-Stakes Reliability: Designed to eliminate critical delays in emergency and healthcare settings.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86571" y="5882841"/>
            <a:ext cx="9544143" cy="48731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Internal Impact (Developers &amp; Researchers)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01508" y="6597216"/>
            <a:ext cx="11148568" cy="100012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Modular Scalability: Decoupled architecture allows for rapid batch processing.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01508" y="7797366"/>
            <a:ext cx="11148568" cy="100012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Plug-and-Play Vocabulary: New signs can be trained and added without rewriting the core extraction logic.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91547" y="453447"/>
            <a:ext cx="17304896" cy="9380096"/>
            <a:chOff x="0" y="0"/>
            <a:chExt cx="23073195" cy="125067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73233" cy="12506833"/>
            </a:xfrm>
            <a:custGeom>
              <a:avLst/>
              <a:gdLst/>
              <a:ahLst/>
              <a:cxnLst/>
              <a:rect l="l" t="t" r="r" b="b"/>
              <a:pathLst>
                <a:path w="23073233" h="12506833">
                  <a:moveTo>
                    <a:pt x="25400" y="0"/>
                  </a:moveTo>
                  <a:lnTo>
                    <a:pt x="23047833" y="0"/>
                  </a:lnTo>
                  <a:cubicBezTo>
                    <a:pt x="23061803" y="0"/>
                    <a:pt x="23073233" y="11430"/>
                    <a:pt x="23073233" y="25400"/>
                  </a:cubicBezTo>
                  <a:lnTo>
                    <a:pt x="23073233" y="12481433"/>
                  </a:lnTo>
                  <a:cubicBezTo>
                    <a:pt x="23073233" y="12495402"/>
                    <a:pt x="23061803" y="12506833"/>
                    <a:pt x="23047833" y="12506833"/>
                  </a:cubicBezTo>
                  <a:lnTo>
                    <a:pt x="25400" y="12506833"/>
                  </a:lnTo>
                  <a:cubicBezTo>
                    <a:pt x="11430" y="12506833"/>
                    <a:pt x="0" y="12495402"/>
                    <a:pt x="0" y="12481433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2481433"/>
                  </a:lnTo>
                  <a:lnTo>
                    <a:pt x="25400" y="12481433"/>
                  </a:lnTo>
                  <a:lnTo>
                    <a:pt x="25400" y="12456033"/>
                  </a:lnTo>
                  <a:lnTo>
                    <a:pt x="23047833" y="12456033"/>
                  </a:lnTo>
                  <a:lnTo>
                    <a:pt x="23047833" y="12481433"/>
                  </a:lnTo>
                  <a:lnTo>
                    <a:pt x="23022433" y="12481433"/>
                  </a:lnTo>
                  <a:lnTo>
                    <a:pt x="23022433" y="25400"/>
                  </a:lnTo>
                  <a:lnTo>
                    <a:pt x="23047833" y="25400"/>
                  </a:lnTo>
                  <a:lnTo>
                    <a:pt x="23047833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491547" y="2124075"/>
            <a:ext cx="4849043" cy="7278114"/>
          </a:xfrm>
          <a:custGeom>
            <a:avLst/>
            <a:gdLst/>
            <a:ahLst/>
            <a:cxnLst/>
            <a:rect l="l" t="t" r="r" b="b"/>
            <a:pathLst>
              <a:path w="4849043" h="7278114">
                <a:moveTo>
                  <a:pt x="0" y="0"/>
                </a:moveTo>
                <a:lnTo>
                  <a:pt x="4849043" y="0"/>
                </a:lnTo>
                <a:lnTo>
                  <a:pt x="4849043" y="7278114"/>
                </a:lnTo>
                <a:lnTo>
                  <a:pt x="0" y="727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104477" y="1000125"/>
            <a:ext cx="10935557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121259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86571" y="2526854"/>
            <a:ext cx="6278429" cy="48731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Real-Time Live Translation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01508" y="3238166"/>
            <a:ext cx="11148568" cy="100012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Shifting from video-file processing to live webcam input (Phase 3).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86572" y="4638341"/>
            <a:ext cx="4849044" cy="48731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Stillness Modeling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01508" y="5349653"/>
            <a:ext cx="11148568" cy="148590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Implementing a trigger to segment distinct gestures automatically, differentiating resting hands from active signing.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86572" y="7035578"/>
            <a:ext cx="5507358" cy="48731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Efficiency &amp; Accuracy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01508" y="7746890"/>
            <a:ext cx="11148568" cy="148590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Interpolating frames to reduce CPU load and latency.</a:t>
            </a:r>
          </a:p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Introducing spatial noise (jitter, rotational) to build a more robust model.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91547" y="453447"/>
            <a:ext cx="17304896" cy="9380096"/>
            <a:chOff x="0" y="0"/>
            <a:chExt cx="23073195" cy="125067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73233" cy="12506833"/>
            </a:xfrm>
            <a:custGeom>
              <a:avLst/>
              <a:gdLst/>
              <a:ahLst/>
              <a:cxnLst/>
              <a:rect l="l" t="t" r="r" b="b"/>
              <a:pathLst>
                <a:path w="23073233" h="12506833">
                  <a:moveTo>
                    <a:pt x="25400" y="0"/>
                  </a:moveTo>
                  <a:lnTo>
                    <a:pt x="23047833" y="0"/>
                  </a:lnTo>
                  <a:cubicBezTo>
                    <a:pt x="23061803" y="0"/>
                    <a:pt x="23073233" y="11430"/>
                    <a:pt x="23073233" y="25400"/>
                  </a:cubicBezTo>
                  <a:lnTo>
                    <a:pt x="23073233" y="12481433"/>
                  </a:lnTo>
                  <a:cubicBezTo>
                    <a:pt x="23073233" y="12495402"/>
                    <a:pt x="23061803" y="12506833"/>
                    <a:pt x="23047833" y="12506833"/>
                  </a:cubicBezTo>
                  <a:lnTo>
                    <a:pt x="25400" y="12506833"/>
                  </a:lnTo>
                  <a:cubicBezTo>
                    <a:pt x="11430" y="12506833"/>
                    <a:pt x="0" y="12495402"/>
                    <a:pt x="0" y="12481433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2481433"/>
                  </a:lnTo>
                  <a:lnTo>
                    <a:pt x="25400" y="12481433"/>
                  </a:lnTo>
                  <a:lnTo>
                    <a:pt x="25400" y="12456033"/>
                  </a:lnTo>
                  <a:lnTo>
                    <a:pt x="23047833" y="12456033"/>
                  </a:lnTo>
                  <a:lnTo>
                    <a:pt x="23047833" y="12481433"/>
                  </a:lnTo>
                  <a:lnTo>
                    <a:pt x="23022433" y="12481433"/>
                  </a:lnTo>
                  <a:lnTo>
                    <a:pt x="23022433" y="25400"/>
                  </a:lnTo>
                  <a:lnTo>
                    <a:pt x="23047833" y="25400"/>
                  </a:lnTo>
                  <a:lnTo>
                    <a:pt x="23047833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3676221" y="942975"/>
            <a:ext cx="10935557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121259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3450" y="2347746"/>
            <a:ext cx="5779407" cy="48731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The Challenge Solved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3482" y="3004971"/>
            <a:ext cx="16006594" cy="100012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Bridging the communication gap for the Deaf and Hard-of-Hearing (DHH) community through automated, accessible translation.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3450" y="4179690"/>
            <a:ext cx="6142264" cy="48731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The Technical Innovation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8387" y="4841597"/>
            <a:ext cx="16001689" cy="100012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Engineered a fully automated, batch-processing pipeline utilizing bidirectional sequence modeling (BiGRU).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3450" y="6003647"/>
            <a:ext cx="4962979" cy="48731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The Current Milestone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8387" y="6660872"/>
            <a:ext cx="16001689" cy="100012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Achieved a scalable, end-to-end translation system maintaining ~80% validation accuracy.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3450" y="7803872"/>
            <a:ext cx="2742771" cy="48731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The Vision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8387" y="8413472"/>
            <a:ext cx="16001689" cy="100012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marL="690881" lvl="1" indent="-345440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121259"/>
                </a:solidFill>
                <a:latin typeface="Arial Bold"/>
                <a:ea typeface="Arial Bold"/>
                <a:cs typeface="Arial Bold"/>
                <a:sym typeface="Arial Bold"/>
              </a:rPr>
              <a:t>Transitioning to real-time, live webcam translation with continuous gesture segmentation.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91547" y="453447"/>
            <a:ext cx="17304896" cy="9380096"/>
            <a:chOff x="0" y="0"/>
            <a:chExt cx="23073195" cy="125067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73233" cy="12506833"/>
            </a:xfrm>
            <a:custGeom>
              <a:avLst/>
              <a:gdLst/>
              <a:ahLst/>
              <a:cxnLst/>
              <a:rect l="l" t="t" r="r" b="b"/>
              <a:pathLst>
                <a:path w="23073233" h="12506833">
                  <a:moveTo>
                    <a:pt x="25400" y="0"/>
                  </a:moveTo>
                  <a:lnTo>
                    <a:pt x="23047833" y="0"/>
                  </a:lnTo>
                  <a:cubicBezTo>
                    <a:pt x="23061803" y="0"/>
                    <a:pt x="23073233" y="11430"/>
                    <a:pt x="23073233" y="25400"/>
                  </a:cubicBezTo>
                  <a:lnTo>
                    <a:pt x="23073233" y="12481433"/>
                  </a:lnTo>
                  <a:cubicBezTo>
                    <a:pt x="23073233" y="12495402"/>
                    <a:pt x="23061803" y="12506833"/>
                    <a:pt x="23047833" y="12506833"/>
                  </a:cubicBezTo>
                  <a:lnTo>
                    <a:pt x="25400" y="12506833"/>
                  </a:lnTo>
                  <a:cubicBezTo>
                    <a:pt x="11430" y="12506833"/>
                    <a:pt x="0" y="12495402"/>
                    <a:pt x="0" y="12481433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2481433"/>
                  </a:lnTo>
                  <a:lnTo>
                    <a:pt x="25400" y="12481433"/>
                  </a:lnTo>
                  <a:lnTo>
                    <a:pt x="25400" y="12456033"/>
                  </a:lnTo>
                  <a:lnTo>
                    <a:pt x="23047833" y="12456033"/>
                  </a:lnTo>
                  <a:lnTo>
                    <a:pt x="23047833" y="12481433"/>
                  </a:lnTo>
                  <a:lnTo>
                    <a:pt x="23022433" y="12481433"/>
                  </a:lnTo>
                  <a:lnTo>
                    <a:pt x="23022433" y="25400"/>
                  </a:lnTo>
                  <a:lnTo>
                    <a:pt x="23047833" y="25400"/>
                  </a:lnTo>
                  <a:lnTo>
                    <a:pt x="23047833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10763" y="5359756"/>
            <a:ext cx="2218201" cy="2218201"/>
            <a:chOff x="0" y="0"/>
            <a:chExt cx="2957601" cy="29576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57576" cy="2957576"/>
            </a:xfrm>
            <a:custGeom>
              <a:avLst/>
              <a:gdLst/>
              <a:ahLst/>
              <a:cxnLst/>
              <a:rect l="l" t="t" r="r" b="b"/>
              <a:pathLst>
                <a:path w="2957576" h="2957576">
                  <a:moveTo>
                    <a:pt x="0" y="1478788"/>
                  </a:moveTo>
                  <a:cubicBezTo>
                    <a:pt x="0" y="662051"/>
                    <a:pt x="662051" y="0"/>
                    <a:pt x="1478788" y="0"/>
                  </a:cubicBezTo>
                  <a:cubicBezTo>
                    <a:pt x="2295525" y="0"/>
                    <a:pt x="2957576" y="662051"/>
                    <a:pt x="2957576" y="1478788"/>
                  </a:cubicBezTo>
                  <a:cubicBezTo>
                    <a:pt x="2957576" y="2295525"/>
                    <a:pt x="2295525" y="2957576"/>
                    <a:pt x="1478788" y="2957576"/>
                  </a:cubicBezTo>
                  <a:cubicBezTo>
                    <a:pt x="662051" y="2957576"/>
                    <a:pt x="0" y="2295525"/>
                    <a:pt x="0" y="14787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1857939" y="5359698"/>
            <a:ext cx="2218201" cy="2218201"/>
            <a:chOff x="0" y="0"/>
            <a:chExt cx="2957601" cy="29576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57576" cy="2957576"/>
            </a:xfrm>
            <a:custGeom>
              <a:avLst/>
              <a:gdLst/>
              <a:ahLst/>
              <a:cxnLst/>
              <a:rect l="l" t="t" r="r" b="b"/>
              <a:pathLst>
                <a:path w="2957576" h="2957576">
                  <a:moveTo>
                    <a:pt x="0" y="1478788"/>
                  </a:moveTo>
                  <a:cubicBezTo>
                    <a:pt x="0" y="662051"/>
                    <a:pt x="662051" y="0"/>
                    <a:pt x="1478788" y="0"/>
                  </a:cubicBezTo>
                  <a:cubicBezTo>
                    <a:pt x="2295525" y="0"/>
                    <a:pt x="2957576" y="662051"/>
                    <a:pt x="2957576" y="1478788"/>
                  </a:cubicBezTo>
                  <a:cubicBezTo>
                    <a:pt x="2957576" y="2295525"/>
                    <a:pt x="2295525" y="2957576"/>
                    <a:pt x="1478788" y="2957576"/>
                  </a:cubicBezTo>
                  <a:cubicBezTo>
                    <a:pt x="662051" y="2957576"/>
                    <a:pt x="0" y="2295525"/>
                    <a:pt x="0" y="14787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334938" y="5359698"/>
            <a:ext cx="2218201" cy="2218201"/>
            <a:chOff x="0" y="0"/>
            <a:chExt cx="2957601" cy="29576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57576" cy="2957576"/>
            </a:xfrm>
            <a:custGeom>
              <a:avLst/>
              <a:gdLst/>
              <a:ahLst/>
              <a:cxnLst/>
              <a:rect l="l" t="t" r="r" b="b"/>
              <a:pathLst>
                <a:path w="2957576" h="2957576">
                  <a:moveTo>
                    <a:pt x="0" y="1478788"/>
                  </a:moveTo>
                  <a:cubicBezTo>
                    <a:pt x="0" y="662051"/>
                    <a:pt x="662051" y="0"/>
                    <a:pt x="1478788" y="0"/>
                  </a:cubicBezTo>
                  <a:cubicBezTo>
                    <a:pt x="2295525" y="0"/>
                    <a:pt x="2957576" y="662051"/>
                    <a:pt x="2957576" y="1478788"/>
                  </a:cubicBezTo>
                  <a:cubicBezTo>
                    <a:pt x="2957576" y="2295525"/>
                    <a:pt x="2295525" y="2957576"/>
                    <a:pt x="1478788" y="2957576"/>
                  </a:cubicBezTo>
                  <a:cubicBezTo>
                    <a:pt x="662051" y="2957576"/>
                    <a:pt x="0" y="2295525"/>
                    <a:pt x="0" y="14787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6713715" y="5359698"/>
            <a:ext cx="2218201" cy="2218201"/>
            <a:chOff x="0" y="0"/>
            <a:chExt cx="2957601" cy="295760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57576" cy="2957576"/>
            </a:xfrm>
            <a:custGeom>
              <a:avLst/>
              <a:gdLst/>
              <a:ahLst/>
              <a:cxnLst/>
              <a:rect l="l" t="t" r="r" b="b"/>
              <a:pathLst>
                <a:path w="2957576" h="2957576">
                  <a:moveTo>
                    <a:pt x="0" y="1478788"/>
                  </a:moveTo>
                  <a:cubicBezTo>
                    <a:pt x="0" y="662051"/>
                    <a:pt x="662051" y="0"/>
                    <a:pt x="1478788" y="0"/>
                  </a:cubicBezTo>
                  <a:cubicBezTo>
                    <a:pt x="2295525" y="0"/>
                    <a:pt x="2957576" y="662051"/>
                    <a:pt x="2957576" y="1478788"/>
                  </a:cubicBezTo>
                  <a:cubicBezTo>
                    <a:pt x="2957576" y="2295525"/>
                    <a:pt x="2295525" y="2957576"/>
                    <a:pt x="1478788" y="2957576"/>
                  </a:cubicBezTo>
                  <a:cubicBezTo>
                    <a:pt x="662051" y="2957576"/>
                    <a:pt x="0" y="2295525"/>
                    <a:pt x="0" y="14787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4182037" y="5359679"/>
            <a:ext cx="2218201" cy="2218201"/>
            <a:chOff x="0" y="0"/>
            <a:chExt cx="2957601" cy="29576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957576" cy="2957576"/>
            </a:xfrm>
            <a:custGeom>
              <a:avLst/>
              <a:gdLst/>
              <a:ahLst/>
              <a:cxnLst/>
              <a:rect l="l" t="t" r="r" b="b"/>
              <a:pathLst>
                <a:path w="2957576" h="2957576">
                  <a:moveTo>
                    <a:pt x="0" y="1478788"/>
                  </a:moveTo>
                  <a:cubicBezTo>
                    <a:pt x="0" y="662051"/>
                    <a:pt x="662051" y="0"/>
                    <a:pt x="1478788" y="0"/>
                  </a:cubicBezTo>
                  <a:cubicBezTo>
                    <a:pt x="2295525" y="0"/>
                    <a:pt x="2957576" y="662051"/>
                    <a:pt x="2957576" y="1478788"/>
                  </a:cubicBezTo>
                  <a:cubicBezTo>
                    <a:pt x="2957576" y="2295525"/>
                    <a:pt x="2295525" y="2957576"/>
                    <a:pt x="1478788" y="2957576"/>
                  </a:cubicBezTo>
                  <a:cubicBezTo>
                    <a:pt x="662051" y="2957576"/>
                    <a:pt x="0" y="2295525"/>
                    <a:pt x="0" y="14787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659036" y="5359698"/>
            <a:ext cx="2218201" cy="2218201"/>
            <a:chOff x="0" y="0"/>
            <a:chExt cx="2957601" cy="295760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957576" cy="2957576"/>
            </a:xfrm>
            <a:custGeom>
              <a:avLst/>
              <a:gdLst/>
              <a:ahLst/>
              <a:cxnLst/>
              <a:rect l="l" t="t" r="r" b="b"/>
              <a:pathLst>
                <a:path w="2957576" h="2957576">
                  <a:moveTo>
                    <a:pt x="0" y="1478788"/>
                  </a:moveTo>
                  <a:cubicBezTo>
                    <a:pt x="0" y="662051"/>
                    <a:pt x="662051" y="0"/>
                    <a:pt x="1478788" y="0"/>
                  </a:cubicBezTo>
                  <a:cubicBezTo>
                    <a:pt x="2295525" y="0"/>
                    <a:pt x="2957576" y="662051"/>
                    <a:pt x="2957576" y="1478788"/>
                  </a:cubicBezTo>
                  <a:cubicBezTo>
                    <a:pt x="2957576" y="2295525"/>
                    <a:pt x="2295525" y="2957576"/>
                    <a:pt x="1478788" y="2957576"/>
                  </a:cubicBezTo>
                  <a:cubicBezTo>
                    <a:pt x="662051" y="2957576"/>
                    <a:pt x="0" y="2295525"/>
                    <a:pt x="0" y="14787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383992" y="3662420"/>
            <a:ext cx="15244953" cy="912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121259"/>
                </a:solidFill>
                <a:latin typeface="FS Albert Arabic Bold"/>
                <a:ea typeface="FS Albert Arabic Bold"/>
                <a:cs typeface="FS Albert Arabic Bold"/>
                <a:sym typeface="FS Albert Arabic Bold"/>
              </a:rPr>
              <a:t>THANK YOU </a:t>
            </a:r>
          </a:p>
        </p:txBody>
      </p:sp>
      <p:sp>
        <p:nvSpPr>
          <p:cNvPr id="19" name="Freeform 19"/>
          <p:cNvSpPr/>
          <p:nvPr/>
        </p:nvSpPr>
        <p:spPr>
          <a:xfrm>
            <a:off x="9250404" y="5535054"/>
            <a:ext cx="2387270" cy="1867052"/>
          </a:xfrm>
          <a:custGeom>
            <a:avLst/>
            <a:gdLst/>
            <a:ahLst/>
            <a:cxnLst/>
            <a:rect l="l" t="t" r="r" b="b"/>
            <a:pathLst>
              <a:path w="2387270" h="1867052">
                <a:moveTo>
                  <a:pt x="0" y="0"/>
                </a:moveTo>
                <a:lnTo>
                  <a:pt x="2387270" y="0"/>
                </a:lnTo>
                <a:lnTo>
                  <a:pt x="2387270" y="1867052"/>
                </a:lnTo>
                <a:lnTo>
                  <a:pt x="0" y="18670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895696" y="5251637"/>
            <a:ext cx="2142687" cy="2434323"/>
          </a:xfrm>
          <a:custGeom>
            <a:avLst/>
            <a:gdLst/>
            <a:ahLst/>
            <a:cxnLst/>
            <a:rect l="l" t="t" r="r" b="b"/>
            <a:pathLst>
              <a:path w="2142687" h="2434323">
                <a:moveTo>
                  <a:pt x="0" y="0"/>
                </a:moveTo>
                <a:lnTo>
                  <a:pt x="2142687" y="0"/>
                </a:lnTo>
                <a:lnTo>
                  <a:pt x="2142687" y="2434324"/>
                </a:lnTo>
                <a:lnTo>
                  <a:pt x="0" y="24343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458474" y="5029219"/>
            <a:ext cx="1866881" cy="2878893"/>
          </a:xfrm>
          <a:custGeom>
            <a:avLst/>
            <a:gdLst/>
            <a:ahLst/>
            <a:cxnLst/>
            <a:rect l="l" t="t" r="r" b="b"/>
            <a:pathLst>
              <a:path w="1866881" h="2878893">
                <a:moveTo>
                  <a:pt x="0" y="0"/>
                </a:moveTo>
                <a:lnTo>
                  <a:pt x="1866881" y="0"/>
                </a:lnTo>
                <a:lnTo>
                  <a:pt x="1866881" y="2878893"/>
                </a:lnTo>
                <a:lnTo>
                  <a:pt x="0" y="2878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4298804" y="5213947"/>
            <a:ext cx="1984677" cy="2509676"/>
          </a:xfrm>
          <a:custGeom>
            <a:avLst/>
            <a:gdLst/>
            <a:ahLst/>
            <a:cxnLst/>
            <a:rect l="l" t="t" r="r" b="b"/>
            <a:pathLst>
              <a:path w="1984677" h="2509676">
                <a:moveTo>
                  <a:pt x="0" y="0"/>
                </a:moveTo>
                <a:lnTo>
                  <a:pt x="1984677" y="0"/>
                </a:lnTo>
                <a:lnTo>
                  <a:pt x="1984677" y="2509675"/>
                </a:lnTo>
                <a:lnTo>
                  <a:pt x="0" y="2509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468761" y="5584546"/>
            <a:ext cx="2708129" cy="1768516"/>
          </a:xfrm>
          <a:custGeom>
            <a:avLst/>
            <a:gdLst/>
            <a:ahLst/>
            <a:cxnLst/>
            <a:rect l="l" t="t" r="r" b="b"/>
            <a:pathLst>
              <a:path w="2708129" h="1768516">
                <a:moveTo>
                  <a:pt x="0" y="0"/>
                </a:moveTo>
                <a:lnTo>
                  <a:pt x="2708129" y="0"/>
                </a:lnTo>
                <a:lnTo>
                  <a:pt x="2708129" y="1768516"/>
                </a:lnTo>
                <a:lnTo>
                  <a:pt x="0" y="17685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649044" y="5060880"/>
            <a:ext cx="2024777" cy="2815838"/>
          </a:xfrm>
          <a:custGeom>
            <a:avLst/>
            <a:gdLst/>
            <a:ahLst/>
            <a:cxnLst/>
            <a:rect l="l" t="t" r="r" b="b"/>
            <a:pathLst>
              <a:path w="2024777" h="2815838">
                <a:moveTo>
                  <a:pt x="0" y="0"/>
                </a:moveTo>
                <a:lnTo>
                  <a:pt x="2024777" y="0"/>
                </a:lnTo>
                <a:lnTo>
                  <a:pt x="2024777" y="2815838"/>
                </a:lnTo>
                <a:lnTo>
                  <a:pt x="0" y="28158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SIGN_WAVE.pptx</dc:title>
  <cp:lastModifiedBy>aditi sethi</cp:lastModifiedBy>
  <cp:revision>2</cp:revision>
  <dcterms:created xsi:type="dcterms:W3CDTF">2006-08-16T00:00:00Z</dcterms:created>
  <dcterms:modified xsi:type="dcterms:W3CDTF">2026-03-19T21:03:31Z</dcterms:modified>
  <dc:identifier>DAHEavh9h0s</dc:identifier>
</cp:coreProperties>
</file>